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Shape 0"/>
          <p:cNvSpPr/>
          <p:nvPr/>
        </p:nvSpPr>
        <p:spPr>
          <a:xfrm>
            <a:off x="566928" y="566928"/>
            <a:ext cx="64008" cy="64008"/>
          </a:xfrm>
          <a:prstGeom prst="ellipse">
            <a:avLst/>
          </a:prstGeom>
          <a:solidFill>
            <a:srgbClr val="6EA3D4"/>
          </a:solidFill>
          <a:ln/>
        </p:spPr>
      </p:sp>
      <p:sp>
        <p:nvSpPr>
          <p:cNvPr id="3" name="Shape 1"/>
          <p:cNvSpPr/>
          <p:nvPr/>
        </p:nvSpPr>
        <p:spPr>
          <a:xfrm>
            <a:off x="717804" y="566928"/>
            <a:ext cx="64008" cy="64008"/>
          </a:xfrm>
          <a:prstGeom prst="ellipse">
            <a:avLst/>
          </a:prstGeom>
          <a:solidFill>
            <a:srgbClr val="FFFFFF"/>
          </a:solidFill>
          <a:ln/>
        </p:spPr>
      </p:sp>
      <p:sp>
        <p:nvSpPr>
          <p:cNvPr id="4" name="Shape 2"/>
          <p:cNvSpPr/>
          <p:nvPr/>
        </p:nvSpPr>
        <p:spPr>
          <a:xfrm>
            <a:off x="868680" y="566928"/>
            <a:ext cx="64008" cy="64008"/>
          </a:xfrm>
          <a:prstGeom prst="ellipse">
            <a:avLst/>
          </a:prstGeom>
          <a:solidFill>
            <a:srgbClr val="FFFFFF"/>
          </a:solidFill>
          <a:ln/>
        </p:spPr>
      </p:sp>
      <p:sp>
        <p:nvSpPr>
          <p:cNvPr id="5" name="Shape 3"/>
          <p:cNvSpPr/>
          <p:nvPr/>
        </p:nvSpPr>
        <p:spPr>
          <a:xfrm>
            <a:off x="642366" y="698190"/>
            <a:ext cx="64008" cy="64008"/>
          </a:xfrm>
          <a:prstGeom prst="ellipse">
            <a:avLst/>
          </a:prstGeom>
          <a:solidFill>
            <a:srgbClr val="6EA3D4"/>
          </a:solidFill>
          <a:ln/>
        </p:spPr>
      </p:sp>
      <p:sp>
        <p:nvSpPr>
          <p:cNvPr id="6" name="Shape 4"/>
          <p:cNvSpPr/>
          <p:nvPr/>
        </p:nvSpPr>
        <p:spPr>
          <a:xfrm>
            <a:off x="793242" y="698190"/>
            <a:ext cx="64008" cy="64008"/>
          </a:xfrm>
          <a:prstGeom prst="ellipse">
            <a:avLst/>
          </a:prstGeom>
          <a:solidFill>
            <a:srgbClr val="FFFFFF"/>
          </a:solidFill>
          <a:ln/>
        </p:spPr>
      </p:sp>
      <p:sp>
        <p:nvSpPr>
          <p:cNvPr id="7" name="Shape 5"/>
          <p:cNvSpPr/>
          <p:nvPr/>
        </p:nvSpPr>
        <p:spPr>
          <a:xfrm>
            <a:off x="717804" y="829452"/>
            <a:ext cx="64008" cy="64008"/>
          </a:xfrm>
          <a:prstGeom prst="ellipse">
            <a:avLst/>
          </a:prstGeom>
          <a:solidFill>
            <a:srgbClr val="FFFFFF"/>
          </a:solidFill>
          <a:ln/>
        </p:spPr>
      </p:sp>
      <p:sp>
        <p:nvSpPr>
          <p:cNvPr id="8" name="Text 6"/>
          <p:cNvSpPr/>
          <p:nvPr/>
        </p:nvSpPr>
        <p:spPr>
          <a:xfrm>
            <a:off x="1188720" y="548640"/>
            <a:ext cx="8229600" cy="274320"/>
          </a:xfrm>
          <a:prstGeom prst="rect">
            <a:avLst/>
          </a:prstGeom>
          <a:noFill/>
          <a:ln/>
        </p:spPr>
        <p:txBody>
          <a:bodyPr wrap="square" rtlCol="0" anchor="ctr"/>
          <a:lstStyle/>
          <a:p>
            <a:pPr indent="0" marL="0">
              <a:buNone/>
            </a:pPr>
            <a:r>
              <a:rPr lang="en-US" sz="1100" b="1" spc="300" kern="0" dirty="0">
                <a:solidFill>
                  <a:srgbClr val="6EA3D4"/>
                </a:solidFill>
                <a:latin typeface="IBM Plex Mono" pitchFamily="34" charset="0"/>
                <a:ea typeface="IBM Plex Mono" pitchFamily="34" charset="-122"/>
                <a:cs typeface="IBM Plex Mono" pitchFamily="34" charset="-120"/>
              </a:rPr>
              <a:t>NEUROBLATE LITT</a:t>
            </a:r>
            <a:endParaRPr lang="en-US" sz="1100" dirty="0"/>
          </a:p>
        </p:txBody>
      </p:sp>
      <p:sp>
        <p:nvSpPr>
          <p:cNvPr id="9" name="Text 7"/>
          <p:cNvSpPr/>
          <p:nvPr/>
        </p:nvSpPr>
        <p:spPr>
          <a:xfrm>
            <a:off x="566928" y="1371600"/>
            <a:ext cx="10972800" cy="640080"/>
          </a:xfrm>
          <a:prstGeom prst="rect">
            <a:avLst/>
          </a:prstGeom>
          <a:noFill/>
          <a:ln/>
        </p:spPr>
        <p:txBody>
          <a:bodyPr wrap="square" rtlCol="0" anchor="ctr"/>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Tumor Board Case Summary</a:t>
            </a:r>
            <a:endParaRPr lang="en-US" sz="3200" dirty="0"/>
          </a:p>
        </p:txBody>
      </p:sp>
      <p:sp>
        <p:nvSpPr>
          <p:cNvPr id="10" name="Text 8"/>
          <p:cNvSpPr/>
          <p:nvPr/>
        </p:nvSpPr>
        <p:spPr>
          <a:xfrm>
            <a:off x="566928" y="2057400"/>
            <a:ext cx="10972800" cy="365760"/>
          </a:xfrm>
          <a:prstGeom prst="rect">
            <a:avLst/>
          </a:prstGeom>
          <a:noFill/>
          <a:ln/>
        </p:spPr>
        <p:txBody>
          <a:bodyPr wrap="square" rtlCol="0" anchor="ctr"/>
          <a:lstStyle/>
          <a:p>
            <a:pPr indent="0" marL="0">
              <a:buNone/>
            </a:pPr>
            <a:r>
              <a:rPr lang="en-US" sz="1500" dirty="0">
                <a:solidFill>
                  <a:srgbClr val="6EA3D4"/>
                </a:solidFill>
                <a:latin typeface="Inter" pitchFamily="34" charset="0"/>
                <a:ea typeface="Inter" pitchFamily="34" charset="-122"/>
                <a:cs typeface="Inter" pitchFamily="34" charset="-120"/>
              </a:rPr>
              <a:t>Recurrent right frontal glioma</a:t>
            </a:r>
            <a:endParaRPr lang="en-US" sz="1500" dirty="0"/>
          </a:p>
        </p:txBody>
      </p:sp>
      <p:sp>
        <p:nvSpPr>
          <p:cNvPr id="11" name="Shape 9"/>
          <p:cNvSpPr/>
          <p:nvPr/>
        </p:nvSpPr>
        <p:spPr>
          <a:xfrm>
            <a:off x="566928" y="2743200"/>
            <a:ext cx="3529584" cy="1051560"/>
          </a:xfrm>
          <a:prstGeom prst="roundRect">
            <a:avLst>
              <a:gd name="adj" fmla="val 5217"/>
            </a:avLst>
          </a:prstGeom>
          <a:solidFill>
            <a:srgbClr val="1B2A4A"/>
          </a:solidFill>
          <a:ln w="12700">
            <a:solidFill>
              <a:srgbClr val="2C3E5E"/>
            </a:solidFill>
            <a:prstDash val="solid"/>
          </a:ln>
        </p:spPr>
      </p:sp>
      <p:sp>
        <p:nvSpPr>
          <p:cNvPr id="12" name="Text 10"/>
          <p:cNvSpPr/>
          <p:nvPr/>
        </p:nvSpPr>
        <p:spPr>
          <a:xfrm>
            <a:off x="749808" y="2880360"/>
            <a:ext cx="3200400" cy="228600"/>
          </a:xfrm>
          <a:prstGeom prst="rect">
            <a:avLst/>
          </a:prstGeom>
          <a:noFill/>
          <a:ln/>
        </p:spPr>
        <p:txBody>
          <a:bodyPr wrap="square" rtlCol="0" anchor="ctr"/>
          <a:lstStyle/>
          <a:p>
            <a:pPr indent="0" marL="0">
              <a:buNone/>
            </a:pPr>
            <a:r>
              <a:rPr lang="en-US" sz="850" spc="150" kern="0" dirty="0">
                <a:solidFill>
                  <a:srgbClr val="6EA3D4"/>
                </a:solidFill>
                <a:latin typeface="IBM Plex Mono" pitchFamily="34" charset="0"/>
                <a:ea typeface="IBM Plex Mono" pitchFamily="34" charset="-122"/>
                <a:cs typeface="IBM Plex Mono" pitchFamily="34" charset="-120"/>
              </a:rPr>
              <a:t>FACILITY</a:t>
            </a:r>
            <a:endParaRPr lang="en-US" sz="850" dirty="0"/>
          </a:p>
        </p:txBody>
      </p:sp>
      <p:sp>
        <p:nvSpPr>
          <p:cNvPr id="13" name="Text 11"/>
          <p:cNvSpPr/>
          <p:nvPr/>
        </p:nvSpPr>
        <p:spPr>
          <a:xfrm>
            <a:off x="749808" y="3127248"/>
            <a:ext cx="3200400" cy="548640"/>
          </a:xfrm>
          <a:prstGeom prst="rect">
            <a:avLst/>
          </a:prstGeom>
          <a:noFill/>
          <a:ln/>
        </p:spPr>
        <p:txBody>
          <a:bodyPr wrap="square"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Westchester Medical Center</a:t>
            </a:r>
            <a:endParaRPr lang="en-US" sz="1400" dirty="0"/>
          </a:p>
        </p:txBody>
      </p:sp>
      <p:sp>
        <p:nvSpPr>
          <p:cNvPr id="14" name="Shape 12"/>
          <p:cNvSpPr/>
          <p:nvPr/>
        </p:nvSpPr>
        <p:spPr>
          <a:xfrm>
            <a:off x="4325112" y="2743200"/>
            <a:ext cx="3529584" cy="1051560"/>
          </a:xfrm>
          <a:prstGeom prst="roundRect">
            <a:avLst>
              <a:gd name="adj" fmla="val 5217"/>
            </a:avLst>
          </a:prstGeom>
          <a:solidFill>
            <a:srgbClr val="1B2A4A"/>
          </a:solidFill>
          <a:ln w="12700">
            <a:solidFill>
              <a:srgbClr val="2C3E5E"/>
            </a:solidFill>
            <a:prstDash val="solid"/>
          </a:ln>
        </p:spPr>
      </p:sp>
      <p:sp>
        <p:nvSpPr>
          <p:cNvPr id="15" name="Text 13"/>
          <p:cNvSpPr/>
          <p:nvPr/>
        </p:nvSpPr>
        <p:spPr>
          <a:xfrm>
            <a:off x="4507992" y="2880360"/>
            <a:ext cx="3200400" cy="228600"/>
          </a:xfrm>
          <a:prstGeom prst="rect">
            <a:avLst/>
          </a:prstGeom>
          <a:noFill/>
          <a:ln/>
        </p:spPr>
        <p:txBody>
          <a:bodyPr wrap="square" rtlCol="0" anchor="ctr"/>
          <a:lstStyle/>
          <a:p>
            <a:pPr indent="0" marL="0">
              <a:buNone/>
            </a:pPr>
            <a:r>
              <a:rPr lang="en-US" sz="850" spc="150" kern="0" dirty="0">
                <a:solidFill>
                  <a:srgbClr val="6EA3D4"/>
                </a:solidFill>
                <a:latin typeface="IBM Plex Mono" pitchFamily="34" charset="0"/>
                <a:ea typeface="IBM Plex Mono" pitchFamily="34" charset="-122"/>
                <a:cs typeface="IBM Plex Mono" pitchFamily="34" charset="-120"/>
              </a:rPr>
              <a:t>PERFORMING</a:t>
            </a:r>
            <a:endParaRPr lang="en-US" sz="850" dirty="0"/>
          </a:p>
        </p:txBody>
      </p:sp>
      <p:sp>
        <p:nvSpPr>
          <p:cNvPr id="16" name="Text 14"/>
          <p:cNvSpPr/>
          <p:nvPr/>
        </p:nvSpPr>
        <p:spPr>
          <a:xfrm>
            <a:off x="4507992" y="3127248"/>
            <a:ext cx="3200400" cy="548640"/>
          </a:xfrm>
          <a:prstGeom prst="rect">
            <a:avLst/>
          </a:prstGeom>
          <a:noFill/>
          <a:ln/>
        </p:spPr>
        <p:txBody>
          <a:bodyPr wrap="square"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Dr. Hanft</a:t>
            </a:r>
            <a:endParaRPr lang="en-US" sz="1400" dirty="0"/>
          </a:p>
        </p:txBody>
      </p:sp>
      <p:sp>
        <p:nvSpPr>
          <p:cNvPr id="17" name="Shape 15"/>
          <p:cNvSpPr/>
          <p:nvPr/>
        </p:nvSpPr>
        <p:spPr>
          <a:xfrm>
            <a:off x="8083296" y="2743200"/>
            <a:ext cx="3529584" cy="1051560"/>
          </a:xfrm>
          <a:prstGeom prst="roundRect">
            <a:avLst>
              <a:gd name="adj" fmla="val 5217"/>
            </a:avLst>
          </a:prstGeom>
          <a:solidFill>
            <a:srgbClr val="1B2A4A"/>
          </a:solidFill>
          <a:ln w="12700">
            <a:solidFill>
              <a:srgbClr val="2C3E5E"/>
            </a:solidFill>
            <a:prstDash val="solid"/>
          </a:ln>
        </p:spPr>
      </p:sp>
      <p:sp>
        <p:nvSpPr>
          <p:cNvPr id="18" name="Text 16"/>
          <p:cNvSpPr/>
          <p:nvPr/>
        </p:nvSpPr>
        <p:spPr>
          <a:xfrm>
            <a:off x="8266176" y="2880360"/>
            <a:ext cx="3200400" cy="228600"/>
          </a:xfrm>
          <a:prstGeom prst="rect">
            <a:avLst/>
          </a:prstGeom>
          <a:noFill/>
          <a:ln/>
        </p:spPr>
        <p:txBody>
          <a:bodyPr wrap="square" rtlCol="0" anchor="ctr"/>
          <a:lstStyle/>
          <a:p>
            <a:pPr indent="0" marL="0">
              <a:buNone/>
            </a:pPr>
            <a:r>
              <a:rPr lang="en-US" sz="850" spc="150" kern="0" dirty="0">
                <a:solidFill>
                  <a:srgbClr val="6EA3D4"/>
                </a:solidFill>
                <a:latin typeface="IBM Plex Mono" pitchFamily="34" charset="0"/>
                <a:ea typeface="IBM Plex Mono" pitchFamily="34" charset="-122"/>
                <a:cs typeface="IBM Plex Mono" pitchFamily="34" charset="-120"/>
              </a:rPr>
              <a:t>REFERRING</a:t>
            </a:r>
            <a:endParaRPr lang="en-US" sz="850" dirty="0"/>
          </a:p>
        </p:txBody>
      </p:sp>
      <p:sp>
        <p:nvSpPr>
          <p:cNvPr id="19" name="Text 17"/>
          <p:cNvSpPr/>
          <p:nvPr/>
        </p:nvSpPr>
        <p:spPr>
          <a:xfrm>
            <a:off x="8266176" y="3127248"/>
            <a:ext cx="3200400" cy="548640"/>
          </a:xfrm>
          <a:prstGeom prst="rect">
            <a:avLst/>
          </a:prstGeom>
          <a:noFill/>
          <a:ln/>
        </p:spPr>
        <p:txBody>
          <a:bodyPr wrap="square"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Dr. Tatyana Gitlevich</a:t>
            </a:r>
            <a:endParaRPr lang="en-US" sz="1400" dirty="0"/>
          </a:p>
        </p:txBody>
      </p:sp>
      <p:sp>
        <p:nvSpPr>
          <p:cNvPr id="20" name="Shape 18"/>
          <p:cNvSpPr/>
          <p:nvPr/>
        </p:nvSpPr>
        <p:spPr>
          <a:xfrm>
            <a:off x="566928" y="4069080"/>
            <a:ext cx="11064240" cy="1371600"/>
          </a:xfrm>
          <a:prstGeom prst="roundRect">
            <a:avLst>
              <a:gd name="adj" fmla="val 4000"/>
            </a:avLst>
          </a:prstGeom>
          <a:solidFill>
            <a:srgbClr val="12203A"/>
          </a:solidFill>
          <a:ln w="12700">
            <a:solidFill>
              <a:srgbClr val="2C3E5E"/>
            </a:solidFill>
            <a:prstDash val="solid"/>
          </a:ln>
        </p:spPr>
      </p:sp>
      <p:sp>
        <p:nvSpPr>
          <p:cNvPr id="21" name="Text 19"/>
          <p:cNvSpPr/>
          <p:nvPr/>
        </p:nvSpPr>
        <p:spPr>
          <a:xfrm>
            <a:off x="777240" y="4224528"/>
            <a:ext cx="4572000" cy="228600"/>
          </a:xfrm>
          <a:prstGeom prst="rect">
            <a:avLst/>
          </a:prstGeom>
          <a:noFill/>
          <a:ln/>
        </p:spPr>
        <p:txBody>
          <a:bodyPr wrap="square" rtlCol="0" anchor="ctr"/>
          <a:lstStyle/>
          <a:p>
            <a:pPr indent="0" marL="0">
              <a:buNone/>
            </a:pPr>
            <a:r>
              <a:rPr lang="en-US" sz="850" spc="150" kern="0" dirty="0">
                <a:solidFill>
                  <a:srgbClr val="6EA3D4"/>
                </a:solidFill>
                <a:latin typeface="IBM Plex Mono" pitchFamily="34" charset="0"/>
                <a:ea typeface="IBM Plex Mono" pitchFamily="34" charset="-122"/>
                <a:cs typeface="IBM Plex Mono" pitchFamily="34" charset="-120"/>
              </a:rPr>
              <a:t>PROCEDURE</a:t>
            </a:r>
            <a:endParaRPr lang="en-US" sz="850" dirty="0"/>
          </a:p>
        </p:txBody>
      </p:sp>
      <p:sp>
        <p:nvSpPr>
          <p:cNvPr id="22" name="Text 20"/>
          <p:cNvSpPr/>
          <p:nvPr/>
        </p:nvSpPr>
        <p:spPr>
          <a:xfrm>
            <a:off x="777240" y="4526280"/>
            <a:ext cx="3566160" cy="320040"/>
          </a:xfrm>
          <a:prstGeom prst="rect">
            <a:avLst/>
          </a:prstGeom>
          <a:noFill/>
          <a:ln/>
        </p:spPr>
        <p:txBody>
          <a:bodyPr wrap="square" rtlCol="0" anchor="ctr"/>
          <a:lstStyle/>
          <a:p>
            <a:pPr indent="0" marL="0">
              <a:buNone/>
            </a:pPr>
            <a:r>
              <a:rPr lang="en-US" sz="1100" dirty="0">
                <a:solidFill>
                  <a:srgbClr val="7A8694"/>
                </a:solidFill>
                <a:latin typeface="IBM Plex Mono" pitchFamily="34" charset="0"/>
                <a:ea typeface="IBM Plex Mono" pitchFamily="34" charset="-122"/>
                <a:cs typeface="IBM Plex Mono" pitchFamily="34" charset="-120"/>
              </a:rPr>
              <a:t>Probe   </a:t>
            </a:r>
            <a:pPr indent="0" marL="0">
              <a:buNone/>
            </a:pPr>
            <a:r>
              <a:rPr lang="en-US" sz="1100" b="1" dirty="0">
                <a:solidFill>
                  <a:srgbClr val="FFFFFF"/>
                </a:solidFill>
                <a:latin typeface="IBM Plex Mono" pitchFamily="34" charset="0"/>
                <a:ea typeface="IBM Plex Mono" pitchFamily="34" charset="-122"/>
                <a:cs typeface="IBM Plex Mono" pitchFamily="34" charset="-120"/>
              </a:rPr>
              <a:t>SideFire® 3.3mm</a:t>
            </a:r>
            <a:endParaRPr lang="en-US" sz="1100" dirty="0"/>
          </a:p>
        </p:txBody>
      </p:sp>
      <p:sp>
        <p:nvSpPr>
          <p:cNvPr id="23" name="Text 21"/>
          <p:cNvSpPr/>
          <p:nvPr/>
        </p:nvSpPr>
        <p:spPr>
          <a:xfrm>
            <a:off x="4434840" y="4526280"/>
            <a:ext cx="3566160" cy="320040"/>
          </a:xfrm>
          <a:prstGeom prst="rect">
            <a:avLst/>
          </a:prstGeom>
          <a:noFill/>
          <a:ln/>
        </p:spPr>
        <p:txBody>
          <a:bodyPr wrap="square" rtlCol="0" anchor="ctr"/>
          <a:lstStyle/>
          <a:p>
            <a:pPr indent="0" marL="0">
              <a:buNone/>
            </a:pPr>
            <a:r>
              <a:rPr lang="en-US" sz="1100" dirty="0">
                <a:solidFill>
                  <a:srgbClr val="7A8694"/>
                </a:solidFill>
                <a:latin typeface="IBM Plex Mono" pitchFamily="34" charset="0"/>
                <a:ea typeface="IBM Plex Mono" pitchFamily="34" charset="-122"/>
                <a:cs typeface="IBM Plex Mono" pitchFamily="34" charset="-120"/>
              </a:rPr>
              <a:t>Energy   </a:t>
            </a:r>
            <a:pPr indent="0" marL="0">
              <a:buNone/>
            </a:pPr>
            <a:r>
              <a:rPr lang="en-US" sz="1100" b="1" dirty="0">
                <a:solidFill>
                  <a:srgbClr val="FFFFFF"/>
                </a:solidFill>
                <a:latin typeface="IBM Plex Mono" pitchFamily="34" charset="0"/>
                <a:ea typeface="IBM Plex Mono" pitchFamily="34" charset="-122"/>
                <a:cs typeface="IBM Plex Mono" pitchFamily="34" charset="-120"/>
              </a:rPr>
              <a:t>13.5 kJ</a:t>
            </a:r>
            <a:endParaRPr lang="en-US" sz="1100" dirty="0"/>
          </a:p>
        </p:txBody>
      </p:sp>
      <p:sp>
        <p:nvSpPr>
          <p:cNvPr id="24" name="Text 22"/>
          <p:cNvSpPr/>
          <p:nvPr/>
        </p:nvSpPr>
        <p:spPr>
          <a:xfrm>
            <a:off x="8092440" y="4526280"/>
            <a:ext cx="3566160" cy="320040"/>
          </a:xfrm>
          <a:prstGeom prst="rect">
            <a:avLst/>
          </a:prstGeom>
          <a:noFill/>
          <a:ln/>
        </p:spPr>
        <p:txBody>
          <a:bodyPr wrap="square" rtlCol="0" anchor="ctr"/>
          <a:lstStyle/>
          <a:p>
            <a:pPr indent="0" marL="0">
              <a:buNone/>
            </a:pPr>
            <a:r>
              <a:rPr lang="en-US" sz="1100" dirty="0">
                <a:solidFill>
                  <a:srgbClr val="7A8694"/>
                </a:solidFill>
                <a:latin typeface="IBM Plex Mono" pitchFamily="34" charset="0"/>
                <a:ea typeface="IBM Plex Mono" pitchFamily="34" charset="-122"/>
                <a:cs typeface="IBM Plex Mono" pitchFamily="34" charset="-120"/>
              </a:rPr>
              <a:t>Laser-on   </a:t>
            </a:r>
            <a:pPr indent="0" marL="0">
              <a:buNone/>
            </a:pPr>
            <a:r>
              <a:rPr lang="en-US" sz="1100" b="1" dirty="0">
                <a:solidFill>
                  <a:srgbClr val="FFFFFF"/>
                </a:solidFill>
                <a:latin typeface="IBM Plex Mono" pitchFamily="34" charset="0"/>
                <a:ea typeface="IBM Plex Mono" pitchFamily="34" charset="-122"/>
                <a:cs typeface="IBM Plex Mono" pitchFamily="34" charset="-120"/>
              </a:rPr>
              <a:t>21:23</a:t>
            </a:r>
            <a:endParaRPr lang="en-US" sz="1100" dirty="0"/>
          </a:p>
        </p:txBody>
      </p:sp>
      <p:sp>
        <p:nvSpPr>
          <p:cNvPr id="25" name="Text 23"/>
          <p:cNvSpPr/>
          <p:nvPr/>
        </p:nvSpPr>
        <p:spPr>
          <a:xfrm>
            <a:off x="777240" y="4983480"/>
            <a:ext cx="3566160" cy="320040"/>
          </a:xfrm>
          <a:prstGeom prst="rect">
            <a:avLst/>
          </a:prstGeom>
          <a:noFill/>
          <a:ln/>
        </p:spPr>
        <p:txBody>
          <a:bodyPr wrap="square" rtlCol="0" anchor="ctr"/>
          <a:lstStyle/>
          <a:p>
            <a:pPr indent="0" marL="0">
              <a:buNone/>
            </a:pPr>
            <a:r>
              <a:rPr lang="en-US" sz="1100" dirty="0">
                <a:solidFill>
                  <a:srgbClr val="7A8694"/>
                </a:solidFill>
                <a:latin typeface="IBM Plex Mono" pitchFamily="34" charset="0"/>
                <a:ea typeface="IBM Plex Mono" pitchFamily="34" charset="-122"/>
                <a:cs typeface="IBM Plex Mono" pitchFamily="34" charset="-120"/>
              </a:rPr>
              <a:t>Pulses   </a:t>
            </a:r>
            <a:pPr indent="0" marL="0">
              <a:buNone/>
            </a:pPr>
            <a:r>
              <a:rPr lang="en-US" sz="1100" b="1" dirty="0">
                <a:solidFill>
                  <a:srgbClr val="FFFFFF"/>
                </a:solidFill>
                <a:latin typeface="IBM Plex Mono" pitchFamily="34" charset="0"/>
                <a:ea typeface="IBM Plex Mono" pitchFamily="34" charset="-122"/>
                <a:cs typeface="IBM Plex Mono" pitchFamily="34" charset="-120"/>
              </a:rPr>
              <a:t>646</a:t>
            </a:r>
            <a:endParaRPr lang="en-US" sz="1100" dirty="0"/>
          </a:p>
        </p:txBody>
      </p:sp>
      <p:sp>
        <p:nvSpPr>
          <p:cNvPr id="26" name="Text 24"/>
          <p:cNvSpPr/>
          <p:nvPr/>
        </p:nvSpPr>
        <p:spPr>
          <a:xfrm>
            <a:off x="4434840" y="4983480"/>
            <a:ext cx="3566160" cy="320040"/>
          </a:xfrm>
          <a:prstGeom prst="rect">
            <a:avLst/>
          </a:prstGeom>
          <a:noFill/>
          <a:ln/>
        </p:spPr>
        <p:txBody>
          <a:bodyPr wrap="square" rtlCol="0" anchor="ctr"/>
          <a:lstStyle/>
          <a:p>
            <a:pPr indent="0" marL="0">
              <a:buNone/>
            </a:pPr>
            <a:r>
              <a:rPr lang="en-US" sz="1100" dirty="0">
                <a:solidFill>
                  <a:srgbClr val="7A8694"/>
                </a:solidFill>
                <a:latin typeface="IBM Plex Mono" pitchFamily="34" charset="0"/>
                <a:ea typeface="IBM Plex Mono" pitchFamily="34" charset="-122"/>
                <a:cs typeface="IBM Plex Mono" pitchFamily="34" charset="-120"/>
              </a:rPr>
              <a:t>Targets / traj.   </a:t>
            </a:r>
            <a:pPr indent="0" marL="0">
              <a:buNone/>
            </a:pPr>
            <a:r>
              <a:rPr lang="en-US" sz="1100" b="1" dirty="0">
                <a:solidFill>
                  <a:srgbClr val="FFFFFF"/>
                </a:solidFill>
                <a:latin typeface="IBM Plex Mono" pitchFamily="34" charset="0"/>
                <a:ea typeface="IBM Plex Mono" pitchFamily="34" charset="-122"/>
                <a:cs typeface="IBM Plex Mono" pitchFamily="34" charset="-120"/>
              </a:rPr>
              <a:t>1 / 1</a:t>
            </a:r>
            <a:endParaRPr lang="en-US" sz="1100" dirty="0"/>
          </a:p>
        </p:txBody>
      </p:sp>
      <p:sp>
        <p:nvSpPr>
          <p:cNvPr id="27" name="Text 25"/>
          <p:cNvSpPr/>
          <p:nvPr/>
        </p:nvSpPr>
        <p:spPr>
          <a:xfrm>
            <a:off x="8092440" y="4983480"/>
            <a:ext cx="3566160" cy="320040"/>
          </a:xfrm>
          <a:prstGeom prst="rect">
            <a:avLst/>
          </a:prstGeom>
          <a:noFill/>
          <a:ln/>
        </p:spPr>
        <p:txBody>
          <a:bodyPr wrap="square" rtlCol="0" anchor="ctr"/>
          <a:lstStyle/>
          <a:p>
            <a:pPr indent="0" marL="0">
              <a:buNone/>
            </a:pPr>
            <a:r>
              <a:rPr lang="en-US" sz="1100" dirty="0">
                <a:solidFill>
                  <a:srgbClr val="7A8694"/>
                </a:solidFill>
                <a:latin typeface="IBM Plex Mono" pitchFamily="34" charset="0"/>
                <a:ea typeface="IBM Plex Mono" pitchFamily="34" charset="-122"/>
                <a:cs typeface="IBM Plex Mono" pitchFamily="34" charset="-120"/>
              </a:rPr>
              <a:t>Date   </a:t>
            </a:r>
            <a:pPr indent="0" marL="0">
              <a:buNone/>
            </a:pPr>
            <a:r>
              <a:rPr lang="en-US" sz="1100" b="1" dirty="0">
                <a:solidFill>
                  <a:srgbClr val="FFFFFF"/>
                </a:solidFill>
                <a:latin typeface="IBM Plex Mono" pitchFamily="34" charset="0"/>
                <a:ea typeface="IBM Plex Mono" pitchFamily="34" charset="-122"/>
                <a:cs typeface="IBM Plex Mono" pitchFamily="34" charset="-120"/>
              </a:rPr>
              <a:t>June 15, 2026</a:t>
            </a:r>
            <a:endParaRPr lang="en-US" sz="1100" dirty="0"/>
          </a:p>
        </p:txBody>
      </p:sp>
      <p:sp>
        <p:nvSpPr>
          <p:cNvPr id="28" name="Text 26"/>
          <p:cNvSpPr/>
          <p:nvPr/>
        </p:nvSpPr>
        <p:spPr>
          <a:xfrm>
            <a:off x="566928" y="5577840"/>
            <a:ext cx="10972800" cy="274320"/>
          </a:xfrm>
          <a:prstGeom prst="rect">
            <a:avLst/>
          </a:prstGeom>
          <a:noFill/>
          <a:ln/>
        </p:spPr>
        <p:txBody>
          <a:bodyPr wrap="square" rtlCol="0" anchor="ctr"/>
          <a:lstStyle/>
          <a:p>
            <a:pPr indent="0" marL="0">
              <a:buNone/>
            </a:pPr>
            <a:r>
              <a:rPr lang="en-US" sz="1100" dirty="0">
                <a:solidFill>
                  <a:srgbClr val="6EA3D4"/>
                </a:solidFill>
                <a:latin typeface="Inter" pitchFamily="34" charset="0"/>
                <a:ea typeface="Inter" pitchFamily="34" charset="-122"/>
                <a:cs typeface="Inter" pitchFamily="34" charset="-120"/>
              </a:rPr>
              <a:t>✓ Robotic probe driver used</a:t>
            </a:r>
            <a:endParaRPr lang="en-US" sz="1100" dirty="0"/>
          </a:p>
        </p:txBody>
      </p:sp>
      <p:sp>
        <p:nvSpPr>
          <p:cNvPr id="29" name="Shape 27"/>
          <p:cNvSpPr/>
          <p:nvPr/>
        </p:nvSpPr>
        <p:spPr>
          <a:xfrm>
            <a:off x="566928" y="6355080"/>
            <a:ext cx="11064240" cy="0"/>
          </a:xfrm>
          <a:prstGeom prst="line">
            <a:avLst/>
          </a:prstGeom>
          <a:noFill/>
          <a:ln w="9525">
            <a:solidFill>
              <a:srgbClr val="D7DEE8"/>
            </a:solidFill>
            <a:prstDash val="solid"/>
          </a:ln>
        </p:spPr>
      </p:sp>
      <p:sp>
        <p:nvSpPr>
          <p:cNvPr id="30" name="Text 28"/>
          <p:cNvSpPr/>
          <p:nvPr/>
        </p:nvSpPr>
        <p:spPr>
          <a:xfrm>
            <a:off x="566928" y="6400800"/>
            <a:ext cx="8778240" cy="365760"/>
          </a:xfrm>
          <a:prstGeom prst="rect">
            <a:avLst/>
          </a:prstGeom>
          <a:noFill/>
          <a:ln/>
        </p:spPr>
        <p:txBody>
          <a:bodyPr wrap="square" rtlCol="0" anchor="t"/>
          <a:lstStyle/>
          <a:p>
            <a:pPr indent="0" marL="0">
              <a:lnSpc>
                <a:spcPct val="100000"/>
              </a:lnSpc>
              <a:buNone/>
            </a:pPr>
            <a:r>
              <a:rPr lang="en-US" sz="650" dirty="0">
                <a:solidFill>
                  <a:srgbClr val="7A8694"/>
                </a:solidFill>
                <a:latin typeface="Inter" pitchFamily="34" charset="0"/>
                <a:ea typeface="Inter" pitchFamily="34" charset="-122"/>
                <a:cs typeface="Inter" pitchFamily="34" charset="-120"/>
              </a:rPr>
              <a:t>The NeuroBlate System is a surgical tool and is not a treatment for any specific disease state or condition. For informational purposes only; does not replace the formal operative report and does not describe clinical outcomes. Rx Only.</a:t>
            </a:r>
            <a:endParaRPr lang="en-US" sz="650" dirty="0"/>
          </a:p>
        </p:txBody>
      </p:sp>
      <p:sp>
        <p:nvSpPr>
          <p:cNvPr id="31" name="Text 29"/>
          <p:cNvSpPr/>
          <p:nvPr/>
        </p:nvSpPr>
        <p:spPr>
          <a:xfrm>
            <a:off x="9418320" y="640080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Case WMC-058  ·  Recurrent right frontal glioma</a:t>
            </a:r>
            <a:endParaRPr lang="en-US" sz="700" dirty="0"/>
          </a:p>
        </p:txBody>
      </p:sp>
      <p:sp>
        <p:nvSpPr>
          <p:cNvPr id="32" name="Text 30"/>
          <p:cNvSpPr/>
          <p:nvPr/>
        </p:nvSpPr>
        <p:spPr>
          <a:xfrm>
            <a:off x="9418320" y="658368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64008" cy="64008"/>
          </a:xfrm>
          <a:prstGeom prst="ellipse">
            <a:avLst/>
          </a:prstGeom>
          <a:solidFill>
            <a:srgbClr val="2F6FB0"/>
          </a:solidFill>
          <a:ln/>
        </p:spPr>
      </p:sp>
      <p:sp>
        <p:nvSpPr>
          <p:cNvPr id="3" name="Shape 1"/>
          <p:cNvSpPr/>
          <p:nvPr/>
        </p:nvSpPr>
        <p:spPr>
          <a:xfrm>
            <a:off x="717804" y="457200"/>
            <a:ext cx="64008" cy="64008"/>
          </a:xfrm>
          <a:prstGeom prst="ellipse">
            <a:avLst/>
          </a:prstGeom>
          <a:solidFill>
            <a:srgbClr val="16233A"/>
          </a:solidFill>
          <a:ln/>
        </p:spPr>
      </p:sp>
      <p:sp>
        <p:nvSpPr>
          <p:cNvPr id="4" name="Shape 2"/>
          <p:cNvSpPr/>
          <p:nvPr/>
        </p:nvSpPr>
        <p:spPr>
          <a:xfrm>
            <a:off x="868680" y="457200"/>
            <a:ext cx="64008" cy="64008"/>
          </a:xfrm>
          <a:prstGeom prst="ellipse">
            <a:avLst/>
          </a:prstGeom>
          <a:solidFill>
            <a:srgbClr val="16233A"/>
          </a:solidFill>
          <a:ln/>
        </p:spPr>
      </p:sp>
      <p:sp>
        <p:nvSpPr>
          <p:cNvPr id="5" name="Shape 3"/>
          <p:cNvSpPr/>
          <p:nvPr/>
        </p:nvSpPr>
        <p:spPr>
          <a:xfrm>
            <a:off x="642366" y="588462"/>
            <a:ext cx="64008" cy="64008"/>
          </a:xfrm>
          <a:prstGeom prst="ellipse">
            <a:avLst/>
          </a:prstGeom>
          <a:solidFill>
            <a:srgbClr val="2F6FB0"/>
          </a:solidFill>
          <a:ln/>
        </p:spPr>
      </p:sp>
      <p:sp>
        <p:nvSpPr>
          <p:cNvPr id="6" name="Shape 4"/>
          <p:cNvSpPr/>
          <p:nvPr/>
        </p:nvSpPr>
        <p:spPr>
          <a:xfrm>
            <a:off x="793242" y="588462"/>
            <a:ext cx="64008" cy="64008"/>
          </a:xfrm>
          <a:prstGeom prst="ellipse">
            <a:avLst/>
          </a:prstGeom>
          <a:solidFill>
            <a:srgbClr val="16233A"/>
          </a:solidFill>
          <a:ln/>
        </p:spPr>
      </p:sp>
      <p:sp>
        <p:nvSpPr>
          <p:cNvPr id="7" name="Shape 5"/>
          <p:cNvSpPr/>
          <p:nvPr/>
        </p:nvSpPr>
        <p:spPr>
          <a:xfrm>
            <a:off x="717804" y="719724"/>
            <a:ext cx="64008" cy="64008"/>
          </a:xfrm>
          <a:prstGeom prst="ellipse">
            <a:avLst/>
          </a:prstGeom>
          <a:solidFill>
            <a:srgbClr val="16233A"/>
          </a:solidFill>
          <a:ln/>
        </p:spPr>
      </p:sp>
      <p:sp>
        <p:nvSpPr>
          <p:cNvPr id="8" name="Text 6"/>
          <p:cNvSpPr/>
          <p:nvPr/>
        </p:nvSpPr>
        <p:spPr>
          <a:xfrm>
            <a:off x="1143000" y="420624"/>
            <a:ext cx="8229600" cy="228600"/>
          </a:xfrm>
          <a:prstGeom prst="rect">
            <a:avLst/>
          </a:prstGeom>
          <a:noFill/>
          <a:ln/>
        </p:spPr>
        <p:txBody>
          <a:bodyPr wrap="square" rtlCol="0" anchor="ctr"/>
          <a:lstStyle/>
          <a:p>
            <a:pPr indent="0" marL="0">
              <a:buNone/>
            </a:pPr>
            <a:r>
              <a:rPr lang="en-US" sz="1000" b="1" spc="200" kern="0" dirty="0">
                <a:solidFill>
                  <a:srgbClr val="2F6FB0"/>
                </a:solidFill>
                <a:latin typeface="IBM Plex Mono" pitchFamily="34" charset="0"/>
                <a:ea typeface="IBM Plex Mono" pitchFamily="34" charset="-122"/>
                <a:cs typeface="IBM Plex Mono" pitchFamily="34" charset="-120"/>
              </a:rPr>
              <a:t>INDICATION</a:t>
            </a:r>
            <a:endParaRPr lang="en-US" sz="1000" dirty="0"/>
          </a:p>
        </p:txBody>
      </p:sp>
      <p:sp>
        <p:nvSpPr>
          <p:cNvPr id="9" name="Text 7"/>
          <p:cNvSpPr/>
          <p:nvPr/>
        </p:nvSpPr>
        <p:spPr>
          <a:xfrm>
            <a:off x="1143000" y="640080"/>
            <a:ext cx="10424160" cy="502920"/>
          </a:xfrm>
          <a:prstGeom prst="rect">
            <a:avLst/>
          </a:prstGeom>
          <a:noFill/>
          <a:ln/>
        </p:spPr>
        <p:txBody>
          <a:bodyPr wrap="square" rtlCol="0" anchor="ctr"/>
          <a:lstStyle/>
          <a:p>
            <a:pPr indent="0" marL="0">
              <a:buNone/>
            </a:pPr>
            <a:r>
              <a:rPr lang="en-US" sz="2400" b="1" dirty="0">
                <a:solidFill>
                  <a:srgbClr val="16233A"/>
                </a:solidFill>
                <a:latin typeface="Space Grotesk" pitchFamily="34" charset="0"/>
                <a:ea typeface="Space Grotesk" pitchFamily="34" charset="-122"/>
                <a:cs typeface="Space Grotesk" pitchFamily="34" charset="-120"/>
              </a:rPr>
              <a:t>Recurrent glioma</a:t>
            </a:r>
            <a:endParaRPr lang="en-US" sz="2400" dirty="0"/>
          </a:p>
        </p:txBody>
      </p:sp>
      <p:sp>
        <p:nvSpPr>
          <p:cNvPr id="10" name="Shape 8"/>
          <p:cNvSpPr/>
          <p:nvPr/>
        </p:nvSpPr>
        <p:spPr>
          <a:xfrm>
            <a:off x="566928" y="1298448"/>
            <a:ext cx="11064240" cy="0"/>
          </a:xfrm>
          <a:prstGeom prst="line">
            <a:avLst/>
          </a:prstGeom>
          <a:noFill/>
          <a:ln w="12700">
            <a:solidFill>
              <a:srgbClr val="D7DEE8"/>
            </a:solidFill>
            <a:prstDash val="solid"/>
          </a:ln>
        </p:spPr>
      </p:sp>
      <p:sp>
        <p:nvSpPr>
          <p:cNvPr id="11" name="Text 9"/>
          <p:cNvSpPr/>
          <p:nvPr/>
        </p:nvSpPr>
        <p:spPr>
          <a:xfrm>
            <a:off x="566928" y="1371600"/>
            <a:ext cx="11064240" cy="320040"/>
          </a:xfrm>
          <a:prstGeom prst="rect">
            <a:avLst/>
          </a:prstGeom>
          <a:noFill/>
          <a:ln/>
        </p:spPr>
        <p:txBody>
          <a:bodyPr wrap="square" rtlCol="0" anchor="ctr"/>
          <a:lstStyle/>
          <a:p>
            <a:pPr indent="0" marL="0">
              <a:buNone/>
            </a:pPr>
            <a:r>
              <a:rPr lang="en-US" sz="1300" i="1" dirty="0">
                <a:solidFill>
                  <a:srgbClr val="2F6FB0"/>
                </a:solidFill>
                <a:latin typeface="Inter" pitchFamily="34" charset="0"/>
                <a:ea typeface="Inter" pitchFamily="34" charset="-122"/>
                <a:cs typeface="Inter" pitchFamily="34" charset="-120"/>
              </a:rPr>
              <a:t>Recurrent right frontal glioma</a:t>
            </a:r>
            <a:endParaRPr lang="en-US" sz="1300" dirty="0"/>
          </a:p>
        </p:txBody>
      </p:sp>
      <p:sp>
        <p:nvSpPr>
          <p:cNvPr id="12" name="Text 10"/>
          <p:cNvSpPr/>
          <p:nvPr/>
        </p:nvSpPr>
        <p:spPr>
          <a:xfrm>
            <a:off x="566928" y="1828800"/>
            <a:ext cx="5303520" cy="228600"/>
          </a:xfrm>
          <a:prstGeom prst="rect">
            <a:avLst/>
          </a:prstGeom>
          <a:noFill/>
          <a:ln/>
        </p:spPr>
        <p:txBody>
          <a:bodyPr wrap="square" rtlCol="0" anchor="ctr"/>
          <a:lstStyle/>
          <a:p>
            <a:pPr indent="0" marL="0">
              <a:buNone/>
            </a:pPr>
            <a:r>
              <a:rPr lang="en-US" sz="900" spc="150" kern="0" dirty="0">
                <a:solidFill>
                  <a:srgbClr val="2F6FB0"/>
                </a:solidFill>
                <a:latin typeface="IBM Plex Mono" pitchFamily="34" charset="0"/>
                <a:ea typeface="IBM Plex Mono" pitchFamily="34" charset="-122"/>
                <a:cs typeface="IBM Plex Mono" pitchFamily="34" charset="-120"/>
              </a:rPr>
              <a:t>CLINICAL CONTEXT</a:t>
            </a:r>
            <a:endParaRPr lang="en-US" sz="900" dirty="0"/>
          </a:p>
        </p:txBody>
      </p:sp>
      <p:sp>
        <p:nvSpPr>
          <p:cNvPr id="13" name="Text 11"/>
          <p:cNvSpPr/>
          <p:nvPr/>
        </p:nvSpPr>
        <p:spPr>
          <a:xfrm>
            <a:off x="566928" y="2103120"/>
            <a:ext cx="5303520" cy="3931920"/>
          </a:xfrm>
          <a:prstGeom prst="rect">
            <a:avLst/>
          </a:prstGeom>
          <a:noFill/>
          <a:ln/>
        </p:spPr>
        <p:txBody>
          <a:bodyPr wrap="square" rtlCol="0" anchor="t"/>
          <a:lstStyle/>
          <a:p>
            <a:pPr indent="0" marL="0">
              <a:lnSpc>
                <a:spcPct val="122000"/>
              </a:lnSpc>
              <a:buNone/>
            </a:pPr>
            <a:r>
              <a:rPr lang="en-US" sz="1250" dirty="0">
                <a:solidFill>
                  <a:srgbClr val="1F2733"/>
                </a:solidFill>
                <a:latin typeface="Inter" pitchFamily="34" charset="0"/>
                <a:ea typeface="Inter" pitchFamily="34" charset="-122"/>
                <a:cs typeface="Inter" pitchFamily="34" charset="-120"/>
              </a:rPr>
              <a:t>Recurrent glioma after prior therapy presents a familiar problem: the lesion is often deep, in or near prior surgical fields, and re-resection carries cumulative risk. LITT offers focal cytoreduction of the enhancing target through a single stereotactic trajectory under continuous MR thermometry. Because glioma is infiltrative, ablation addresses the targeted volume rather than microscopic disease throughout the brain, and is best framed as one tool within a multimodal plan that preserves future options.</a:t>
            </a:r>
            <a:endParaRPr lang="en-US" sz="1250" dirty="0"/>
          </a:p>
        </p:txBody>
      </p:sp>
      <p:sp>
        <p:nvSpPr>
          <p:cNvPr id="14" name="Shape 12"/>
          <p:cNvSpPr/>
          <p:nvPr/>
        </p:nvSpPr>
        <p:spPr>
          <a:xfrm>
            <a:off x="6089904" y="1828800"/>
            <a:ext cx="0" cy="4114800"/>
          </a:xfrm>
          <a:prstGeom prst="line">
            <a:avLst/>
          </a:prstGeom>
          <a:noFill/>
          <a:ln w="9525">
            <a:solidFill>
              <a:srgbClr val="D7DEE8"/>
            </a:solidFill>
            <a:prstDash val="solid"/>
          </a:ln>
        </p:spPr>
      </p:sp>
      <p:sp>
        <p:nvSpPr>
          <p:cNvPr id="15" name="Text 13"/>
          <p:cNvSpPr/>
          <p:nvPr/>
        </p:nvSpPr>
        <p:spPr>
          <a:xfrm>
            <a:off x="6309360" y="1828800"/>
            <a:ext cx="5303520" cy="228600"/>
          </a:xfrm>
          <a:prstGeom prst="rect">
            <a:avLst/>
          </a:prstGeom>
          <a:noFill/>
          <a:ln/>
        </p:spPr>
        <p:txBody>
          <a:bodyPr wrap="square" rtlCol="0" anchor="ctr"/>
          <a:lstStyle/>
          <a:p>
            <a:pPr indent="0" marL="0">
              <a:buNone/>
            </a:pPr>
            <a:r>
              <a:rPr lang="en-US" sz="900" spc="150" kern="0" dirty="0">
                <a:solidFill>
                  <a:srgbClr val="2F6FB0"/>
                </a:solidFill>
                <a:latin typeface="IBM Plex Mono" pitchFamily="34" charset="0"/>
                <a:ea typeface="IBM Plex Mono" pitchFamily="34" charset="-122"/>
                <a:cs typeface="IBM Plex Mono" pitchFamily="34" charset="-120"/>
              </a:rPr>
              <a:t>WHY LITT IN THIS CASE</a:t>
            </a:r>
            <a:endParaRPr lang="en-US" sz="900" dirty="0"/>
          </a:p>
        </p:txBody>
      </p:sp>
      <p:sp>
        <p:nvSpPr>
          <p:cNvPr id="16" name="Text 14"/>
          <p:cNvSpPr/>
          <p:nvPr/>
        </p:nvSpPr>
        <p:spPr>
          <a:xfrm>
            <a:off x="6309360" y="2103120"/>
            <a:ext cx="5321808" cy="3931920"/>
          </a:xfrm>
          <a:prstGeom prst="rect">
            <a:avLst/>
          </a:prstGeom>
          <a:noFill/>
          <a:ln/>
        </p:spPr>
        <p:txBody>
          <a:bodyPr wrap="square" rtlCol="0" anchor="t"/>
          <a:lstStyle/>
          <a:p>
            <a:pPr indent="0" marL="0">
              <a:lnSpc>
                <a:spcPct val="122000"/>
              </a:lnSpc>
              <a:buNone/>
            </a:pPr>
            <a:r>
              <a:rPr lang="en-US" sz="1250" dirty="0">
                <a:solidFill>
                  <a:srgbClr val="1F2733"/>
                </a:solidFill>
                <a:latin typeface="Inter" pitchFamily="34" charset="0"/>
                <a:ea typeface="Inter" pitchFamily="34" charset="-122"/>
                <a:cs typeface="Inter" pitchFamily="34" charset="-120"/>
              </a:rPr>
              <a:t>LITT was chosen to deliver focal cytoreduction of the enhancing recurrence through a single minimally invasive trajectory under real-time thermometry, while keeping re-resection, re-irradiation, systemic therapy, and trials on the table. The supporting evidence: in the LAANTERN glioblastoma analysis, which included recurrent IDH-wildtype patients, post-procedure survival fell within the range of published series (de Groot 2022), with short hospitalization across the tumor registry (Kim 2020).</a:t>
            </a:r>
            <a:endParaRPr lang="en-US" sz="1250" dirty="0"/>
          </a:p>
        </p:txBody>
      </p:sp>
      <p:sp>
        <p:nvSpPr>
          <p:cNvPr id="17" name="Shape 15"/>
          <p:cNvSpPr/>
          <p:nvPr/>
        </p:nvSpPr>
        <p:spPr>
          <a:xfrm>
            <a:off x="566928" y="6355080"/>
            <a:ext cx="11064240" cy="0"/>
          </a:xfrm>
          <a:prstGeom prst="line">
            <a:avLst/>
          </a:prstGeom>
          <a:noFill/>
          <a:ln w="9525">
            <a:solidFill>
              <a:srgbClr val="D7DEE8"/>
            </a:solidFill>
            <a:prstDash val="solid"/>
          </a:ln>
        </p:spPr>
      </p:sp>
      <p:sp>
        <p:nvSpPr>
          <p:cNvPr id="18" name="Text 16"/>
          <p:cNvSpPr/>
          <p:nvPr/>
        </p:nvSpPr>
        <p:spPr>
          <a:xfrm>
            <a:off x="566928" y="6400800"/>
            <a:ext cx="8778240" cy="365760"/>
          </a:xfrm>
          <a:prstGeom prst="rect">
            <a:avLst/>
          </a:prstGeom>
          <a:noFill/>
          <a:ln/>
        </p:spPr>
        <p:txBody>
          <a:bodyPr wrap="square" rtlCol="0" anchor="t"/>
          <a:lstStyle/>
          <a:p>
            <a:pPr indent="0" marL="0">
              <a:lnSpc>
                <a:spcPct val="100000"/>
              </a:lnSpc>
              <a:buNone/>
            </a:pPr>
            <a:r>
              <a:rPr lang="en-US" sz="650" dirty="0">
                <a:solidFill>
                  <a:srgbClr val="7A8694"/>
                </a:solidFill>
                <a:latin typeface="Inter" pitchFamily="34" charset="0"/>
                <a:ea typeface="Inter" pitchFamily="34" charset="-122"/>
                <a:cs typeface="Inter" pitchFamily="34" charset="-120"/>
              </a:rPr>
              <a:t>The NeuroBlate System is a surgical tool and is not a treatment for any specific disease state or condition. For informational purposes only; does not replace the formal operative report and does not describe clinical outcomes. Rx Only.</a:t>
            </a:r>
            <a:endParaRPr lang="en-US" sz="650" dirty="0"/>
          </a:p>
        </p:txBody>
      </p:sp>
      <p:sp>
        <p:nvSpPr>
          <p:cNvPr id="19" name="Text 17"/>
          <p:cNvSpPr/>
          <p:nvPr/>
        </p:nvSpPr>
        <p:spPr>
          <a:xfrm>
            <a:off x="9418320" y="640080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Case WMC-058  ·  Recurrent right frontal glioma</a:t>
            </a:r>
            <a:endParaRPr lang="en-US" sz="700" dirty="0"/>
          </a:p>
        </p:txBody>
      </p:sp>
      <p:sp>
        <p:nvSpPr>
          <p:cNvPr id="20" name="Text 18"/>
          <p:cNvSpPr/>
          <p:nvPr/>
        </p:nvSpPr>
        <p:spPr>
          <a:xfrm>
            <a:off x="9418320" y="658368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64008" cy="64008"/>
          </a:xfrm>
          <a:prstGeom prst="ellipse">
            <a:avLst/>
          </a:prstGeom>
          <a:solidFill>
            <a:srgbClr val="2F6FB0"/>
          </a:solidFill>
          <a:ln/>
        </p:spPr>
      </p:sp>
      <p:sp>
        <p:nvSpPr>
          <p:cNvPr id="3" name="Shape 1"/>
          <p:cNvSpPr/>
          <p:nvPr/>
        </p:nvSpPr>
        <p:spPr>
          <a:xfrm>
            <a:off x="717804" y="457200"/>
            <a:ext cx="64008" cy="64008"/>
          </a:xfrm>
          <a:prstGeom prst="ellipse">
            <a:avLst/>
          </a:prstGeom>
          <a:solidFill>
            <a:srgbClr val="16233A"/>
          </a:solidFill>
          <a:ln/>
        </p:spPr>
      </p:sp>
      <p:sp>
        <p:nvSpPr>
          <p:cNvPr id="4" name="Shape 2"/>
          <p:cNvSpPr/>
          <p:nvPr/>
        </p:nvSpPr>
        <p:spPr>
          <a:xfrm>
            <a:off x="868680" y="457200"/>
            <a:ext cx="64008" cy="64008"/>
          </a:xfrm>
          <a:prstGeom prst="ellipse">
            <a:avLst/>
          </a:prstGeom>
          <a:solidFill>
            <a:srgbClr val="16233A"/>
          </a:solidFill>
          <a:ln/>
        </p:spPr>
      </p:sp>
      <p:sp>
        <p:nvSpPr>
          <p:cNvPr id="5" name="Shape 3"/>
          <p:cNvSpPr/>
          <p:nvPr/>
        </p:nvSpPr>
        <p:spPr>
          <a:xfrm>
            <a:off x="642366" y="588462"/>
            <a:ext cx="64008" cy="64008"/>
          </a:xfrm>
          <a:prstGeom prst="ellipse">
            <a:avLst/>
          </a:prstGeom>
          <a:solidFill>
            <a:srgbClr val="2F6FB0"/>
          </a:solidFill>
          <a:ln/>
        </p:spPr>
      </p:sp>
      <p:sp>
        <p:nvSpPr>
          <p:cNvPr id="6" name="Shape 4"/>
          <p:cNvSpPr/>
          <p:nvPr/>
        </p:nvSpPr>
        <p:spPr>
          <a:xfrm>
            <a:off x="793242" y="588462"/>
            <a:ext cx="64008" cy="64008"/>
          </a:xfrm>
          <a:prstGeom prst="ellipse">
            <a:avLst/>
          </a:prstGeom>
          <a:solidFill>
            <a:srgbClr val="16233A"/>
          </a:solidFill>
          <a:ln/>
        </p:spPr>
      </p:sp>
      <p:sp>
        <p:nvSpPr>
          <p:cNvPr id="7" name="Shape 5"/>
          <p:cNvSpPr/>
          <p:nvPr/>
        </p:nvSpPr>
        <p:spPr>
          <a:xfrm>
            <a:off x="717804" y="719724"/>
            <a:ext cx="64008" cy="64008"/>
          </a:xfrm>
          <a:prstGeom prst="ellipse">
            <a:avLst/>
          </a:prstGeom>
          <a:solidFill>
            <a:srgbClr val="16233A"/>
          </a:solidFill>
          <a:ln/>
        </p:spPr>
      </p:sp>
      <p:sp>
        <p:nvSpPr>
          <p:cNvPr id="8" name="Text 6"/>
          <p:cNvSpPr/>
          <p:nvPr/>
        </p:nvSpPr>
        <p:spPr>
          <a:xfrm>
            <a:off x="1143000" y="420624"/>
            <a:ext cx="8229600" cy="228600"/>
          </a:xfrm>
          <a:prstGeom prst="rect">
            <a:avLst/>
          </a:prstGeom>
          <a:noFill/>
          <a:ln/>
        </p:spPr>
        <p:txBody>
          <a:bodyPr wrap="square" rtlCol="0" anchor="ctr"/>
          <a:lstStyle/>
          <a:p>
            <a:pPr indent="0" marL="0">
              <a:buNone/>
            </a:pPr>
            <a:r>
              <a:rPr lang="en-US" sz="1000" b="1" spc="200" kern="0" dirty="0">
                <a:solidFill>
                  <a:srgbClr val="2F6FB0"/>
                </a:solidFill>
                <a:latin typeface="IBM Plex Mono" pitchFamily="34" charset="0"/>
                <a:ea typeface="IBM Plex Mono" pitchFamily="34" charset="-122"/>
                <a:cs typeface="IBM Plex Mono" pitchFamily="34" charset="-120"/>
              </a:rPr>
              <a:t>FOR COMPLETION</a:t>
            </a:r>
            <a:endParaRPr lang="en-US" sz="1000" dirty="0"/>
          </a:p>
        </p:txBody>
      </p:sp>
      <p:sp>
        <p:nvSpPr>
          <p:cNvPr id="9" name="Text 7"/>
          <p:cNvSpPr/>
          <p:nvPr/>
        </p:nvSpPr>
        <p:spPr>
          <a:xfrm>
            <a:off x="1143000" y="640080"/>
            <a:ext cx="10424160" cy="502920"/>
          </a:xfrm>
          <a:prstGeom prst="rect">
            <a:avLst/>
          </a:prstGeom>
          <a:noFill/>
          <a:ln/>
        </p:spPr>
        <p:txBody>
          <a:bodyPr wrap="square" rtlCol="0" anchor="ctr"/>
          <a:lstStyle/>
          <a:p>
            <a:pPr indent="0" marL="0">
              <a:buNone/>
            </a:pPr>
            <a:r>
              <a:rPr lang="en-US" sz="2400" b="1" dirty="0">
                <a:solidFill>
                  <a:srgbClr val="16233A"/>
                </a:solidFill>
                <a:latin typeface="Space Grotesk" pitchFamily="34" charset="0"/>
                <a:ea typeface="Space Grotesk" pitchFamily="34" charset="-122"/>
                <a:cs typeface="Space Grotesk" pitchFamily="34" charset="-120"/>
              </a:rPr>
              <a:t>Operative Notes</a:t>
            </a:r>
            <a:endParaRPr lang="en-US" sz="2400" dirty="0"/>
          </a:p>
        </p:txBody>
      </p:sp>
      <p:sp>
        <p:nvSpPr>
          <p:cNvPr id="10" name="Shape 8"/>
          <p:cNvSpPr/>
          <p:nvPr/>
        </p:nvSpPr>
        <p:spPr>
          <a:xfrm>
            <a:off x="566928" y="1298448"/>
            <a:ext cx="11064240" cy="0"/>
          </a:xfrm>
          <a:prstGeom prst="line">
            <a:avLst/>
          </a:prstGeom>
          <a:noFill/>
          <a:ln w="12700">
            <a:solidFill>
              <a:srgbClr val="D7DEE8"/>
            </a:solidFill>
            <a:prstDash val="solid"/>
          </a:ln>
        </p:spPr>
      </p:sp>
      <p:sp>
        <p:nvSpPr>
          <p:cNvPr id="11" name="Shape 9"/>
          <p:cNvSpPr/>
          <p:nvPr/>
        </p:nvSpPr>
        <p:spPr>
          <a:xfrm>
            <a:off x="566928" y="1554480"/>
            <a:ext cx="11064240" cy="4526280"/>
          </a:xfrm>
          <a:prstGeom prst="roundRect">
            <a:avLst>
              <a:gd name="adj" fmla="val 1616"/>
            </a:avLst>
          </a:prstGeom>
          <a:solidFill>
            <a:srgbClr val="FCFDFE"/>
          </a:solidFill>
          <a:ln w="12700">
            <a:solidFill>
              <a:srgbClr val="D7DEE8"/>
            </a:solidFill>
            <a:prstDash val="solid"/>
          </a:ln>
        </p:spPr>
      </p:sp>
      <p:sp>
        <p:nvSpPr>
          <p:cNvPr id="12" name="Shape 10"/>
          <p:cNvSpPr/>
          <p:nvPr/>
        </p:nvSpPr>
        <p:spPr>
          <a:xfrm>
            <a:off x="868680" y="2377440"/>
            <a:ext cx="10460736" cy="0"/>
          </a:xfrm>
          <a:prstGeom prst="line">
            <a:avLst/>
          </a:prstGeom>
          <a:noFill/>
          <a:ln w="9525">
            <a:solidFill>
              <a:srgbClr val="E9EEF4"/>
            </a:solidFill>
            <a:prstDash val="solid"/>
          </a:ln>
        </p:spPr>
      </p:sp>
      <p:sp>
        <p:nvSpPr>
          <p:cNvPr id="13" name="Shape 11"/>
          <p:cNvSpPr/>
          <p:nvPr/>
        </p:nvSpPr>
        <p:spPr>
          <a:xfrm>
            <a:off x="868680" y="2834640"/>
            <a:ext cx="10460736" cy="0"/>
          </a:xfrm>
          <a:prstGeom prst="line">
            <a:avLst/>
          </a:prstGeom>
          <a:noFill/>
          <a:ln w="9525">
            <a:solidFill>
              <a:srgbClr val="E9EEF4"/>
            </a:solidFill>
            <a:prstDash val="solid"/>
          </a:ln>
        </p:spPr>
      </p:sp>
      <p:sp>
        <p:nvSpPr>
          <p:cNvPr id="14" name="Shape 12"/>
          <p:cNvSpPr/>
          <p:nvPr/>
        </p:nvSpPr>
        <p:spPr>
          <a:xfrm>
            <a:off x="868680" y="3291840"/>
            <a:ext cx="10460736" cy="0"/>
          </a:xfrm>
          <a:prstGeom prst="line">
            <a:avLst/>
          </a:prstGeom>
          <a:noFill/>
          <a:ln w="9525">
            <a:solidFill>
              <a:srgbClr val="E9EEF4"/>
            </a:solidFill>
            <a:prstDash val="solid"/>
          </a:ln>
        </p:spPr>
      </p:sp>
      <p:sp>
        <p:nvSpPr>
          <p:cNvPr id="15" name="Shape 13"/>
          <p:cNvSpPr/>
          <p:nvPr/>
        </p:nvSpPr>
        <p:spPr>
          <a:xfrm>
            <a:off x="868680" y="3749040"/>
            <a:ext cx="10460736" cy="0"/>
          </a:xfrm>
          <a:prstGeom prst="line">
            <a:avLst/>
          </a:prstGeom>
          <a:noFill/>
          <a:ln w="9525">
            <a:solidFill>
              <a:srgbClr val="E9EEF4"/>
            </a:solidFill>
            <a:prstDash val="solid"/>
          </a:ln>
        </p:spPr>
      </p:sp>
      <p:sp>
        <p:nvSpPr>
          <p:cNvPr id="16" name="Shape 14"/>
          <p:cNvSpPr/>
          <p:nvPr/>
        </p:nvSpPr>
        <p:spPr>
          <a:xfrm>
            <a:off x="868680" y="4206240"/>
            <a:ext cx="10460736" cy="0"/>
          </a:xfrm>
          <a:prstGeom prst="line">
            <a:avLst/>
          </a:prstGeom>
          <a:noFill/>
          <a:ln w="9525">
            <a:solidFill>
              <a:srgbClr val="E9EEF4"/>
            </a:solidFill>
            <a:prstDash val="solid"/>
          </a:ln>
        </p:spPr>
      </p:sp>
      <p:sp>
        <p:nvSpPr>
          <p:cNvPr id="17" name="Shape 15"/>
          <p:cNvSpPr/>
          <p:nvPr/>
        </p:nvSpPr>
        <p:spPr>
          <a:xfrm>
            <a:off x="868680" y="4663440"/>
            <a:ext cx="10460736" cy="0"/>
          </a:xfrm>
          <a:prstGeom prst="line">
            <a:avLst/>
          </a:prstGeom>
          <a:noFill/>
          <a:ln w="9525">
            <a:solidFill>
              <a:srgbClr val="E9EEF4"/>
            </a:solidFill>
            <a:prstDash val="solid"/>
          </a:ln>
        </p:spPr>
      </p:sp>
      <p:sp>
        <p:nvSpPr>
          <p:cNvPr id="18" name="Shape 16"/>
          <p:cNvSpPr/>
          <p:nvPr/>
        </p:nvSpPr>
        <p:spPr>
          <a:xfrm>
            <a:off x="868680" y="5120640"/>
            <a:ext cx="10460736" cy="0"/>
          </a:xfrm>
          <a:prstGeom prst="line">
            <a:avLst/>
          </a:prstGeom>
          <a:noFill/>
          <a:ln w="9525">
            <a:solidFill>
              <a:srgbClr val="E9EEF4"/>
            </a:solidFill>
            <a:prstDash val="solid"/>
          </a:ln>
        </p:spPr>
      </p:sp>
      <p:sp>
        <p:nvSpPr>
          <p:cNvPr id="19" name="Shape 17"/>
          <p:cNvSpPr/>
          <p:nvPr/>
        </p:nvSpPr>
        <p:spPr>
          <a:xfrm>
            <a:off x="868680" y="5577840"/>
            <a:ext cx="10460736" cy="0"/>
          </a:xfrm>
          <a:prstGeom prst="line">
            <a:avLst/>
          </a:prstGeom>
          <a:noFill/>
          <a:ln w="9525">
            <a:solidFill>
              <a:srgbClr val="E9EEF4"/>
            </a:solidFill>
            <a:prstDash val="solid"/>
          </a:ln>
        </p:spPr>
      </p:sp>
      <p:sp>
        <p:nvSpPr>
          <p:cNvPr id="20" name="Text 18"/>
          <p:cNvSpPr/>
          <p:nvPr/>
        </p:nvSpPr>
        <p:spPr>
          <a:xfrm>
            <a:off x="868680" y="1755648"/>
            <a:ext cx="10460736" cy="274320"/>
          </a:xfrm>
          <a:prstGeom prst="rect">
            <a:avLst/>
          </a:prstGeom>
          <a:noFill/>
          <a:ln/>
        </p:spPr>
        <p:txBody>
          <a:bodyPr wrap="square" rtlCol="0" anchor="ctr"/>
          <a:lstStyle/>
          <a:p>
            <a:pPr indent="0" marL="0">
              <a:buNone/>
            </a:pPr>
            <a:r>
              <a:rPr lang="en-US" sz="1000" i="1" dirty="0">
                <a:solidFill>
                  <a:srgbClr val="7A8694"/>
                </a:solidFill>
                <a:latin typeface="Inter" pitchFamily="34" charset="0"/>
                <a:ea typeface="Inter" pitchFamily="34" charset="-122"/>
                <a:cs typeface="Inter" pitchFamily="34" charset="-120"/>
              </a:rPr>
              <a:t>To be completed by the performing surgeon.</a:t>
            </a:r>
            <a:endParaRPr lang="en-US" sz="1000" dirty="0"/>
          </a:p>
        </p:txBody>
      </p:sp>
      <p:sp>
        <p:nvSpPr>
          <p:cNvPr id="21" name="Text 19"/>
          <p:cNvSpPr/>
          <p:nvPr/>
        </p:nvSpPr>
        <p:spPr>
          <a:xfrm>
            <a:off x="868680" y="2103120"/>
            <a:ext cx="10460736" cy="3886200"/>
          </a:xfrm>
          <a:prstGeom prst="rect">
            <a:avLst/>
          </a:prstGeom>
          <a:noFill/>
          <a:ln/>
        </p:spPr>
        <p:txBody>
          <a:bodyPr wrap="square" rtlCol="0" anchor="t"/>
          <a:lstStyle/>
          <a:p>
            <a:pPr indent="0" marL="0">
              <a:buNone/>
            </a:pPr>
            <a:endParaRPr lang="en-US" sz="1300" dirty="0"/>
          </a:p>
        </p:txBody>
      </p:sp>
      <p:sp>
        <p:nvSpPr>
          <p:cNvPr id="22" name="Shape 20"/>
          <p:cNvSpPr/>
          <p:nvPr/>
        </p:nvSpPr>
        <p:spPr>
          <a:xfrm>
            <a:off x="566928" y="6355080"/>
            <a:ext cx="11064240" cy="0"/>
          </a:xfrm>
          <a:prstGeom prst="line">
            <a:avLst/>
          </a:prstGeom>
          <a:noFill/>
          <a:ln w="9525">
            <a:solidFill>
              <a:srgbClr val="D7DEE8"/>
            </a:solidFill>
            <a:prstDash val="solid"/>
          </a:ln>
        </p:spPr>
      </p:sp>
      <p:sp>
        <p:nvSpPr>
          <p:cNvPr id="23" name="Text 21"/>
          <p:cNvSpPr/>
          <p:nvPr/>
        </p:nvSpPr>
        <p:spPr>
          <a:xfrm>
            <a:off x="566928" y="6400800"/>
            <a:ext cx="8778240" cy="365760"/>
          </a:xfrm>
          <a:prstGeom prst="rect">
            <a:avLst/>
          </a:prstGeom>
          <a:noFill/>
          <a:ln/>
        </p:spPr>
        <p:txBody>
          <a:bodyPr wrap="square" rtlCol="0" anchor="t"/>
          <a:lstStyle/>
          <a:p>
            <a:pPr indent="0" marL="0">
              <a:lnSpc>
                <a:spcPct val="100000"/>
              </a:lnSpc>
              <a:buNone/>
            </a:pPr>
            <a:r>
              <a:rPr lang="en-US" sz="650" dirty="0">
                <a:solidFill>
                  <a:srgbClr val="7A8694"/>
                </a:solidFill>
                <a:latin typeface="Inter" pitchFamily="34" charset="0"/>
                <a:ea typeface="Inter" pitchFamily="34" charset="-122"/>
                <a:cs typeface="Inter" pitchFamily="34" charset="-120"/>
              </a:rPr>
              <a:t>The NeuroBlate System is a surgical tool and is not a treatment for any specific disease state or condition. For informational purposes only; does not replace the formal operative report and does not describe clinical outcomes. Rx Only.</a:t>
            </a:r>
            <a:endParaRPr lang="en-US" sz="650" dirty="0"/>
          </a:p>
        </p:txBody>
      </p:sp>
      <p:sp>
        <p:nvSpPr>
          <p:cNvPr id="24" name="Text 22"/>
          <p:cNvSpPr/>
          <p:nvPr/>
        </p:nvSpPr>
        <p:spPr>
          <a:xfrm>
            <a:off x="9418320" y="640080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Case WMC-058  ·  Recurrent right frontal glioma</a:t>
            </a:r>
            <a:endParaRPr lang="en-US" sz="700" dirty="0"/>
          </a:p>
        </p:txBody>
      </p:sp>
      <p:sp>
        <p:nvSpPr>
          <p:cNvPr id="25" name="Text 23"/>
          <p:cNvSpPr/>
          <p:nvPr/>
        </p:nvSpPr>
        <p:spPr>
          <a:xfrm>
            <a:off x="9418320" y="658368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64008" cy="64008"/>
          </a:xfrm>
          <a:prstGeom prst="ellipse">
            <a:avLst/>
          </a:prstGeom>
          <a:solidFill>
            <a:srgbClr val="2F6FB0"/>
          </a:solidFill>
          <a:ln/>
        </p:spPr>
      </p:sp>
      <p:sp>
        <p:nvSpPr>
          <p:cNvPr id="3" name="Shape 1"/>
          <p:cNvSpPr/>
          <p:nvPr/>
        </p:nvSpPr>
        <p:spPr>
          <a:xfrm>
            <a:off x="717804" y="457200"/>
            <a:ext cx="64008" cy="64008"/>
          </a:xfrm>
          <a:prstGeom prst="ellipse">
            <a:avLst/>
          </a:prstGeom>
          <a:solidFill>
            <a:srgbClr val="16233A"/>
          </a:solidFill>
          <a:ln/>
        </p:spPr>
      </p:sp>
      <p:sp>
        <p:nvSpPr>
          <p:cNvPr id="4" name="Shape 2"/>
          <p:cNvSpPr/>
          <p:nvPr/>
        </p:nvSpPr>
        <p:spPr>
          <a:xfrm>
            <a:off x="868680" y="457200"/>
            <a:ext cx="64008" cy="64008"/>
          </a:xfrm>
          <a:prstGeom prst="ellipse">
            <a:avLst/>
          </a:prstGeom>
          <a:solidFill>
            <a:srgbClr val="16233A"/>
          </a:solidFill>
          <a:ln/>
        </p:spPr>
      </p:sp>
      <p:sp>
        <p:nvSpPr>
          <p:cNvPr id="5" name="Shape 3"/>
          <p:cNvSpPr/>
          <p:nvPr/>
        </p:nvSpPr>
        <p:spPr>
          <a:xfrm>
            <a:off x="642366" y="588462"/>
            <a:ext cx="64008" cy="64008"/>
          </a:xfrm>
          <a:prstGeom prst="ellipse">
            <a:avLst/>
          </a:prstGeom>
          <a:solidFill>
            <a:srgbClr val="2F6FB0"/>
          </a:solidFill>
          <a:ln/>
        </p:spPr>
      </p:sp>
      <p:sp>
        <p:nvSpPr>
          <p:cNvPr id="6" name="Shape 4"/>
          <p:cNvSpPr/>
          <p:nvPr/>
        </p:nvSpPr>
        <p:spPr>
          <a:xfrm>
            <a:off x="793242" y="588462"/>
            <a:ext cx="64008" cy="64008"/>
          </a:xfrm>
          <a:prstGeom prst="ellipse">
            <a:avLst/>
          </a:prstGeom>
          <a:solidFill>
            <a:srgbClr val="16233A"/>
          </a:solidFill>
          <a:ln/>
        </p:spPr>
      </p:sp>
      <p:sp>
        <p:nvSpPr>
          <p:cNvPr id="7" name="Shape 5"/>
          <p:cNvSpPr/>
          <p:nvPr/>
        </p:nvSpPr>
        <p:spPr>
          <a:xfrm>
            <a:off x="717804" y="719724"/>
            <a:ext cx="64008" cy="64008"/>
          </a:xfrm>
          <a:prstGeom prst="ellipse">
            <a:avLst/>
          </a:prstGeom>
          <a:solidFill>
            <a:srgbClr val="16233A"/>
          </a:solidFill>
          <a:ln/>
        </p:spPr>
      </p:sp>
      <p:sp>
        <p:nvSpPr>
          <p:cNvPr id="8" name="Text 6"/>
          <p:cNvSpPr/>
          <p:nvPr/>
        </p:nvSpPr>
        <p:spPr>
          <a:xfrm>
            <a:off x="1143000" y="420624"/>
            <a:ext cx="8229600" cy="228600"/>
          </a:xfrm>
          <a:prstGeom prst="rect">
            <a:avLst/>
          </a:prstGeom>
          <a:noFill/>
          <a:ln/>
        </p:spPr>
        <p:txBody>
          <a:bodyPr wrap="square" rtlCol="0" anchor="ctr"/>
          <a:lstStyle/>
          <a:p>
            <a:pPr indent="0" marL="0">
              <a:buNone/>
            </a:pPr>
            <a:r>
              <a:rPr lang="en-US" sz="1000" b="1" spc="200" kern="0" dirty="0">
                <a:solidFill>
                  <a:srgbClr val="2F6FB0"/>
                </a:solidFill>
                <a:latin typeface="IBM Plex Mono" pitchFamily="34" charset="0"/>
                <a:ea typeface="IBM Plex Mono" pitchFamily="34" charset="-122"/>
                <a:cs typeface="IBM Plex Mono" pitchFamily="34" charset="-120"/>
              </a:rPr>
              <a:t>IMAGING · 1 OF 2</a:t>
            </a:r>
            <a:endParaRPr lang="en-US" sz="1000" dirty="0"/>
          </a:p>
        </p:txBody>
      </p:sp>
      <p:sp>
        <p:nvSpPr>
          <p:cNvPr id="9" name="Text 7"/>
          <p:cNvSpPr/>
          <p:nvPr/>
        </p:nvSpPr>
        <p:spPr>
          <a:xfrm>
            <a:off x="1143000" y="640080"/>
            <a:ext cx="10424160" cy="502920"/>
          </a:xfrm>
          <a:prstGeom prst="rect">
            <a:avLst/>
          </a:prstGeom>
          <a:noFill/>
          <a:ln/>
        </p:spPr>
        <p:txBody>
          <a:bodyPr wrap="square" rtlCol="0" anchor="ctr"/>
          <a:lstStyle/>
          <a:p>
            <a:pPr indent="0" marL="0">
              <a:buNone/>
            </a:pPr>
            <a:r>
              <a:rPr lang="en-US" sz="2400" b="1" dirty="0">
                <a:solidFill>
                  <a:srgbClr val="16233A"/>
                </a:solidFill>
                <a:latin typeface="Space Grotesk" pitchFamily="34" charset="0"/>
                <a:ea typeface="Space Grotesk" pitchFamily="34" charset="-122"/>
                <a:cs typeface="Space Grotesk" pitchFamily="34" charset="-120"/>
              </a:rPr>
              <a:t>Treated area under live MR thermometry</a:t>
            </a:r>
            <a:endParaRPr lang="en-US" sz="2400" dirty="0"/>
          </a:p>
        </p:txBody>
      </p:sp>
      <p:sp>
        <p:nvSpPr>
          <p:cNvPr id="10" name="Shape 8"/>
          <p:cNvSpPr/>
          <p:nvPr/>
        </p:nvSpPr>
        <p:spPr>
          <a:xfrm>
            <a:off x="566928" y="1298448"/>
            <a:ext cx="11064240" cy="0"/>
          </a:xfrm>
          <a:prstGeom prst="line">
            <a:avLst/>
          </a:prstGeom>
          <a:noFill/>
          <a:ln w="12700">
            <a:solidFill>
              <a:srgbClr val="D7DEE8"/>
            </a:solidFill>
            <a:prstDash val="solid"/>
          </a:ln>
        </p:spPr>
      </p:sp>
      <p:pic>
        <p:nvPicPr>
          <p:cNvPr id="11" name="Image 0" descr="preencoded.png">    </p:cNvPr>
          <p:cNvPicPr>
            <a:picLocks noChangeAspect="1"/>
          </p:cNvPicPr>
          <p:nvPr/>
        </p:nvPicPr>
        <p:blipFill>
          <a:blip r:embed="rId1"/>
          <a:srcRect l="0" r="0" t="0" b="0"/>
          <a:stretch/>
        </p:blipFill>
        <p:spPr>
          <a:xfrm>
            <a:off x="566928" y="1554480"/>
            <a:ext cx="6126480" cy="4526280"/>
          </a:xfrm>
          <a:prstGeom prst="rect">
            <a:avLst/>
          </a:prstGeom>
        </p:spPr>
      </p:pic>
      <p:sp>
        <p:nvSpPr>
          <p:cNvPr id="12" name="Text 9"/>
          <p:cNvSpPr/>
          <p:nvPr/>
        </p:nvSpPr>
        <p:spPr>
          <a:xfrm>
            <a:off x="6949440" y="1737360"/>
            <a:ext cx="4663440" cy="457200"/>
          </a:xfrm>
          <a:prstGeom prst="rect">
            <a:avLst/>
          </a:prstGeom>
          <a:noFill/>
          <a:ln/>
        </p:spPr>
        <p:txBody>
          <a:bodyPr wrap="square" rtlCol="0" anchor="ctr"/>
          <a:lstStyle/>
          <a:p>
            <a:pPr indent="0" marL="0">
              <a:buNone/>
            </a:pPr>
            <a:r>
              <a:rPr lang="en-US" sz="1600" b="1" dirty="0">
                <a:solidFill>
                  <a:srgbClr val="16233A"/>
                </a:solidFill>
                <a:latin typeface="Space Grotesk" pitchFamily="34" charset="0"/>
                <a:ea typeface="Space Grotesk" pitchFamily="34" charset="-122"/>
                <a:cs typeface="Space Grotesk" pitchFamily="34" charset="-120"/>
              </a:rPr>
              <a:t>Yellow TDT — higher threshold</a:t>
            </a:r>
            <a:endParaRPr lang="en-US" sz="1600" dirty="0"/>
          </a:p>
        </p:txBody>
      </p:sp>
      <p:sp>
        <p:nvSpPr>
          <p:cNvPr id="13" name="Text 10"/>
          <p:cNvSpPr/>
          <p:nvPr/>
        </p:nvSpPr>
        <p:spPr>
          <a:xfrm>
            <a:off x="6949440" y="2286000"/>
            <a:ext cx="4663440" cy="3474720"/>
          </a:xfrm>
          <a:prstGeom prst="rect">
            <a:avLst/>
          </a:prstGeom>
          <a:noFill/>
          <a:ln/>
        </p:spPr>
        <p:txBody>
          <a:bodyPr wrap="square" rtlCol="0" anchor="t"/>
          <a:lstStyle/>
          <a:p>
            <a:pPr indent="0" marL="0">
              <a:lnSpc>
                <a:spcPct val="125000"/>
              </a:lnSpc>
              <a:buNone/>
            </a:pPr>
            <a:r>
              <a:rPr lang="en-US" sz="1300" dirty="0">
                <a:solidFill>
                  <a:srgbClr val="46505F"/>
                </a:solidFill>
                <a:latin typeface="Inter" pitchFamily="34" charset="0"/>
                <a:ea typeface="Inter" pitchFamily="34" charset="-122"/>
                <a:cs typeface="Inter" pitchFamily="34" charset="-120"/>
              </a:rPr>
              <a:t>Yellow contour = the lower-dose TDT line (≈43°C for 2 minutes). It marks where thermal injury is developing — an earlier contour that the higher-dose blue line may expand through as controlled heating continues.</a:t>
            </a:r>
            <a:endParaRPr lang="en-US" sz="1300" dirty="0"/>
          </a:p>
        </p:txBody>
      </p:sp>
      <p:sp>
        <p:nvSpPr>
          <p:cNvPr id="14" name="Shape 11"/>
          <p:cNvSpPr/>
          <p:nvPr/>
        </p:nvSpPr>
        <p:spPr>
          <a:xfrm>
            <a:off x="566928" y="6355080"/>
            <a:ext cx="11064240" cy="0"/>
          </a:xfrm>
          <a:prstGeom prst="line">
            <a:avLst/>
          </a:prstGeom>
          <a:noFill/>
          <a:ln w="9525">
            <a:solidFill>
              <a:srgbClr val="D7DEE8"/>
            </a:solidFill>
            <a:prstDash val="solid"/>
          </a:ln>
        </p:spPr>
      </p:sp>
      <p:sp>
        <p:nvSpPr>
          <p:cNvPr id="15" name="Text 12"/>
          <p:cNvSpPr/>
          <p:nvPr/>
        </p:nvSpPr>
        <p:spPr>
          <a:xfrm>
            <a:off x="566928" y="6400800"/>
            <a:ext cx="8778240" cy="365760"/>
          </a:xfrm>
          <a:prstGeom prst="rect">
            <a:avLst/>
          </a:prstGeom>
          <a:noFill/>
          <a:ln/>
        </p:spPr>
        <p:txBody>
          <a:bodyPr wrap="square" rtlCol="0" anchor="t"/>
          <a:lstStyle/>
          <a:p>
            <a:pPr indent="0" marL="0">
              <a:lnSpc>
                <a:spcPct val="100000"/>
              </a:lnSpc>
              <a:buNone/>
            </a:pPr>
            <a:r>
              <a:rPr lang="en-US" sz="650" dirty="0">
                <a:solidFill>
                  <a:srgbClr val="7A8694"/>
                </a:solidFill>
                <a:latin typeface="Inter" pitchFamily="34" charset="0"/>
                <a:ea typeface="Inter" pitchFamily="34" charset="-122"/>
                <a:cs typeface="Inter" pitchFamily="34" charset="-120"/>
              </a:rPr>
              <a:t>The NeuroBlate System is a surgical tool and is not a treatment for any specific disease state or condition. For informational purposes only; does not replace the formal operative report and does not describe clinical outcomes. Rx Only.</a:t>
            </a:r>
            <a:endParaRPr lang="en-US" sz="650" dirty="0"/>
          </a:p>
        </p:txBody>
      </p:sp>
      <p:sp>
        <p:nvSpPr>
          <p:cNvPr id="16" name="Text 13"/>
          <p:cNvSpPr/>
          <p:nvPr/>
        </p:nvSpPr>
        <p:spPr>
          <a:xfrm>
            <a:off x="9418320" y="640080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Case WMC-058  ·  Recurrent right frontal glioma</a:t>
            </a:r>
            <a:endParaRPr lang="en-US" sz="700" dirty="0"/>
          </a:p>
        </p:txBody>
      </p:sp>
      <p:sp>
        <p:nvSpPr>
          <p:cNvPr id="17" name="Text 14"/>
          <p:cNvSpPr/>
          <p:nvPr/>
        </p:nvSpPr>
        <p:spPr>
          <a:xfrm>
            <a:off x="9418320" y="658368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64008" cy="64008"/>
          </a:xfrm>
          <a:prstGeom prst="ellipse">
            <a:avLst/>
          </a:prstGeom>
          <a:solidFill>
            <a:srgbClr val="2F6FB0"/>
          </a:solidFill>
          <a:ln/>
        </p:spPr>
      </p:sp>
      <p:sp>
        <p:nvSpPr>
          <p:cNvPr id="3" name="Shape 1"/>
          <p:cNvSpPr/>
          <p:nvPr/>
        </p:nvSpPr>
        <p:spPr>
          <a:xfrm>
            <a:off x="717804" y="457200"/>
            <a:ext cx="64008" cy="64008"/>
          </a:xfrm>
          <a:prstGeom prst="ellipse">
            <a:avLst/>
          </a:prstGeom>
          <a:solidFill>
            <a:srgbClr val="16233A"/>
          </a:solidFill>
          <a:ln/>
        </p:spPr>
      </p:sp>
      <p:sp>
        <p:nvSpPr>
          <p:cNvPr id="4" name="Shape 2"/>
          <p:cNvSpPr/>
          <p:nvPr/>
        </p:nvSpPr>
        <p:spPr>
          <a:xfrm>
            <a:off x="868680" y="457200"/>
            <a:ext cx="64008" cy="64008"/>
          </a:xfrm>
          <a:prstGeom prst="ellipse">
            <a:avLst/>
          </a:prstGeom>
          <a:solidFill>
            <a:srgbClr val="16233A"/>
          </a:solidFill>
          <a:ln/>
        </p:spPr>
      </p:sp>
      <p:sp>
        <p:nvSpPr>
          <p:cNvPr id="5" name="Shape 3"/>
          <p:cNvSpPr/>
          <p:nvPr/>
        </p:nvSpPr>
        <p:spPr>
          <a:xfrm>
            <a:off x="642366" y="588462"/>
            <a:ext cx="64008" cy="64008"/>
          </a:xfrm>
          <a:prstGeom prst="ellipse">
            <a:avLst/>
          </a:prstGeom>
          <a:solidFill>
            <a:srgbClr val="2F6FB0"/>
          </a:solidFill>
          <a:ln/>
        </p:spPr>
      </p:sp>
      <p:sp>
        <p:nvSpPr>
          <p:cNvPr id="6" name="Shape 4"/>
          <p:cNvSpPr/>
          <p:nvPr/>
        </p:nvSpPr>
        <p:spPr>
          <a:xfrm>
            <a:off x="793242" y="588462"/>
            <a:ext cx="64008" cy="64008"/>
          </a:xfrm>
          <a:prstGeom prst="ellipse">
            <a:avLst/>
          </a:prstGeom>
          <a:solidFill>
            <a:srgbClr val="16233A"/>
          </a:solidFill>
          <a:ln/>
        </p:spPr>
      </p:sp>
      <p:sp>
        <p:nvSpPr>
          <p:cNvPr id="7" name="Shape 5"/>
          <p:cNvSpPr/>
          <p:nvPr/>
        </p:nvSpPr>
        <p:spPr>
          <a:xfrm>
            <a:off x="717804" y="719724"/>
            <a:ext cx="64008" cy="64008"/>
          </a:xfrm>
          <a:prstGeom prst="ellipse">
            <a:avLst/>
          </a:prstGeom>
          <a:solidFill>
            <a:srgbClr val="16233A"/>
          </a:solidFill>
          <a:ln/>
        </p:spPr>
      </p:sp>
      <p:sp>
        <p:nvSpPr>
          <p:cNvPr id="8" name="Text 6"/>
          <p:cNvSpPr/>
          <p:nvPr/>
        </p:nvSpPr>
        <p:spPr>
          <a:xfrm>
            <a:off x="1143000" y="420624"/>
            <a:ext cx="8229600" cy="228600"/>
          </a:xfrm>
          <a:prstGeom prst="rect">
            <a:avLst/>
          </a:prstGeom>
          <a:noFill/>
          <a:ln/>
        </p:spPr>
        <p:txBody>
          <a:bodyPr wrap="square" rtlCol="0" anchor="ctr"/>
          <a:lstStyle/>
          <a:p>
            <a:pPr indent="0" marL="0">
              <a:buNone/>
            </a:pPr>
            <a:r>
              <a:rPr lang="en-US" sz="1000" b="1" spc="200" kern="0" dirty="0">
                <a:solidFill>
                  <a:srgbClr val="2F6FB0"/>
                </a:solidFill>
                <a:latin typeface="IBM Plex Mono" pitchFamily="34" charset="0"/>
                <a:ea typeface="IBM Plex Mono" pitchFamily="34" charset="-122"/>
                <a:cs typeface="IBM Plex Mono" pitchFamily="34" charset="-120"/>
              </a:rPr>
              <a:t>IMAGING · 2 OF 2</a:t>
            </a:r>
            <a:endParaRPr lang="en-US" sz="1000" dirty="0"/>
          </a:p>
        </p:txBody>
      </p:sp>
      <p:sp>
        <p:nvSpPr>
          <p:cNvPr id="9" name="Text 7"/>
          <p:cNvSpPr/>
          <p:nvPr/>
        </p:nvSpPr>
        <p:spPr>
          <a:xfrm>
            <a:off x="1143000" y="640080"/>
            <a:ext cx="10424160" cy="502920"/>
          </a:xfrm>
          <a:prstGeom prst="rect">
            <a:avLst/>
          </a:prstGeom>
          <a:noFill/>
          <a:ln/>
        </p:spPr>
        <p:txBody>
          <a:bodyPr wrap="square" rtlCol="0" anchor="ctr"/>
          <a:lstStyle/>
          <a:p>
            <a:pPr indent="0" marL="0">
              <a:buNone/>
            </a:pPr>
            <a:r>
              <a:rPr lang="en-US" sz="2400" b="1" dirty="0">
                <a:solidFill>
                  <a:srgbClr val="16233A"/>
                </a:solidFill>
                <a:latin typeface="Space Grotesk" pitchFamily="34" charset="0"/>
                <a:ea typeface="Space Grotesk" pitchFamily="34" charset="-122"/>
                <a:cs typeface="Space Grotesk" pitchFamily="34" charset="-120"/>
              </a:rPr>
              <a:t>Treated area under live MR thermometry</a:t>
            </a:r>
            <a:endParaRPr lang="en-US" sz="2400" dirty="0"/>
          </a:p>
        </p:txBody>
      </p:sp>
      <p:sp>
        <p:nvSpPr>
          <p:cNvPr id="10" name="Shape 8"/>
          <p:cNvSpPr/>
          <p:nvPr/>
        </p:nvSpPr>
        <p:spPr>
          <a:xfrm>
            <a:off x="566928" y="1298448"/>
            <a:ext cx="11064240" cy="0"/>
          </a:xfrm>
          <a:prstGeom prst="line">
            <a:avLst/>
          </a:prstGeom>
          <a:noFill/>
          <a:ln w="12700">
            <a:solidFill>
              <a:srgbClr val="D7DEE8"/>
            </a:solidFill>
            <a:prstDash val="solid"/>
          </a:ln>
        </p:spPr>
      </p:sp>
      <p:pic>
        <p:nvPicPr>
          <p:cNvPr id="11" name="Image 0" descr="preencoded.png">    </p:cNvPr>
          <p:cNvPicPr>
            <a:picLocks noChangeAspect="1"/>
          </p:cNvPicPr>
          <p:nvPr/>
        </p:nvPicPr>
        <p:blipFill>
          <a:blip r:embed="rId1"/>
          <a:srcRect l="0" r="0" t="0" b="0"/>
          <a:stretch/>
        </p:blipFill>
        <p:spPr>
          <a:xfrm>
            <a:off x="566928" y="1554480"/>
            <a:ext cx="6126480" cy="4526280"/>
          </a:xfrm>
          <a:prstGeom prst="rect">
            <a:avLst/>
          </a:prstGeom>
        </p:spPr>
      </p:pic>
      <p:sp>
        <p:nvSpPr>
          <p:cNvPr id="12" name="Text 9"/>
          <p:cNvSpPr/>
          <p:nvPr/>
        </p:nvSpPr>
        <p:spPr>
          <a:xfrm>
            <a:off x="6949440" y="1737360"/>
            <a:ext cx="4663440" cy="457200"/>
          </a:xfrm>
          <a:prstGeom prst="rect">
            <a:avLst/>
          </a:prstGeom>
          <a:noFill/>
          <a:ln/>
        </p:spPr>
        <p:txBody>
          <a:bodyPr wrap="square" rtlCol="0" anchor="ctr"/>
          <a:lstStyle/>
          <a:p>
            <a:pPr indent="0" marL="0">
              <a:buNone/>
            </a:pPr>
            <a:r>
              <a:rPr lang="en-US" sz="1600" b="1" dirty="0">
                <a:solidFill>
                  <a:srgbClr val="16233A"/>
                </a:solidFill>
                <a:latin typeface="Space Grotesk" pitchFamily="34" charset="0"/>
                <a:ea typeface="Space Grotesk" pitchFamily="34" charset="-122"/>
                <a:cs typeface="Space Grotesk" pitchFamily="34" charset="-120"/>
              </a:rPr>
              <a:t>Blue TDT — lower threshold</a:t>
            </a:r>
            <a:endParaRPr lang="en-US" sz="1600" dirty="0"/>
          </a:p>
        </p:txBody>
      </p:sp>
      <p:sp>
        <p:nvSpPr>
          <p:cNvPr id="13" name="Text 10"/>
          <p:cNvSpPr/>
          <p:nvPr/>
        </p:nvSpPr>
        <p:spPr>
          <a:xfrm>
            <a:off x="6949440" y="2286000"/>
            <a:ext cx="4663440" cy="3474720"/>
          </a:xfrm>
          <a:prstGeom prst="rect">
            <a:avLst/>
          </a:prstGeom>
          <a:noFill/>
          <a:ln/>
        </p:spPr>
        <p:txBody>
          <a:bodyPr wrap="square" rtlCol="0" anchor="t"/>
          <a:lstStyle/>
          <a:p>
            <a:pPr indent="0" marL="0">
              <a:lnSpc>
                <a:spcPct val="125000"/>
              </a:lnSpc>
              <a:buNone/>
            </a:pPr>
            <a:r>
              <a:rPr lang="en-US" sz="1300" dirty="0">
                <a:solidFill>
                  <a:srgbClr val="46505F"/>
                </a:solidFill>
                <a:latin typeface="Inter" pitchFamily="34" charset="0"/>
                <a:ea typeface="Inter" pitchFamily="34" charset="-122"/>
                <a:cs typeface="Inter" pitchFamily="34" charset="-120"/>
              </a:rPr>
              <a:t>Blue contour = the higher-dose TDT line (≈43°C for 10 minutes). It marks the more confident zone of irreversible thermal damage — the stronger predictor of ablative coverage. The operator drives this contour through the target while keeping critical anatomy outside it.</a:t>
            </a:r>
            <a:endParaRPr lang="en-US" sz="1300" dirty="0"/>
          </a:p>
        </p:txBody>
      </p:sp>
      <p:sp>
        <p:nvSpPr>
          <p:cNvPr id="14" name="Shape 11"/>
          <p:cNvSpPr/>
          <p:nvPr/>
        </p:nvSpPr>
        <p:spPr>
          <a:xfrm>
            <a:off x="566928" y="6355080"/>
            <a:ext cx="11064240" cy="0"/>
          </a:xfrm>
          <a:prstGeom prst="line">
            <a:avLst/>
          </a:prstGeom>
          <a:noFill/>
          <a:ln w="9525">
            <a:solidFill>
              <a:srgbClr val="D7DEE8"/>
            </a:solidFill>
            <a:prstDash val="solid"/>
          </a:ln>
        </p:spPr>
      </p:sp>
      <p:sp>
        <p:nvSpPr>
          <p:cNvPr id="15" name="Text 12"/>
          <p:cNvSpPr/>
          <p:nvPr/>
        </p:nvSpPr>
        <p:spPr>
          <a:xfrm>
            <a:off x="566928" y="6400800"/>
            <a:ext cx="8778240" cy="365760"/>
          </a:xfrm>
          <a:prstGeom prst="rect">
            <a:avLst/>
          </a:prstGeom>
          <a:noFill/>
          <a:ln/>
        </p:spPr>
        <p:txBody>
          <a:bodyPr wrap="square" rtlCol="0" anchor="t"/>
          <a:lstStyle/>
          <a:p>
            <a:pPr indent="0" marL="0">
              <a:lnSpc>
                <a:spcPct val="100000"/>
              </a:lnSpc>
              <a:buNone/>
            </a:pPr>
            <a:r>
              <a:rPr lang="en-US" sz="650" dirty="0">
                <a:solidFill>
                  <a:srgbClr val="7A8694"/>
                </a:solidFill>
                <a:latin typeface="Inter" pitchFamily="34" charset="0"/>
                <a:ea typeface="Inter" pitchFamily="34" charset="-122"/>
                <a:cs typeface="Inter" pitchFamily="34" charset="-120"/>
              </a:rPr>
              <a:t>The NeuroBlate System is a surgical tool and is not a treatment for any specific disease state or condition. For informational purposes only; does not replace the formal operative report and does not describe clinical outcomes. Rx Only.</a:t>
            </a:r>
            <a:endParaRPr lang="en-US" sz="650" dirty="0"/>
          </a:p>
        </p:txBody>
      </p:sp>
      <p:sp>
        <p:nvSpPr>
          <p:cNvPr id="16" name="Text 13"/>
          <p:cNvSpPr/>
          <p:nvPr/>
        </p:nvSpPr>
        <p:spPr>
          <a:xfrm>
            <a:off x="9418320" y="640080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Case WMC-058  ·  Recurrent right frontal glioma</a:t>
            </a:r>
            <a:endParaRPr lang="en-US" sz="700" dirty="0"/>
          </a:p>
        </p:txBody>
      </p:sp>
      <p:sp>
        <p:nvSpPr>
          <p:cNvPr id="17" name="Text 14"/>
          <p:cNvSpPr/>
          <p:nvPr/>
        </p:nvSpPr>
        <p:spPr>
          <a:xfrm>
            <a:off x="9418320" y="658368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64008" cy="64008"/>
          </a:xfrm>
          <a:prstGeom prst="ellipse">
            <a:avLst/>
          </a:prstGeom>
          <a:solidFill>
            <a:srgbClr val="2F6FB0"/>
          </a:solidFill>
          <a:ln/>
        </p:spPr>
      </p:sp>
      <p:sp>
        <p:nvSpPr>
          <p:cNvPr id="3" name="Shape 1"/>
          <p:cNvSpPr/>
          <p:nvPr/>
        </p:nvSpPr>
        <p:spPr>
          <a:xfrm>
            <a:off x="717804" y="457200"/>
            <a:ext cx="64008" cy="64008"/>
          </a:xfrm>
          <a:prstGeom prst="ellipse">
            <a:avLst/>
          </a:prstGeom>
          <a:solidFill>
            <a:srgbClr val="16233A"/>
          </a:solidFill>
          <a:ln/>
        </p:spPr>
      </p:sp>
      <p:sp>
        <p:nvSpPr>
          <p:cNvPr id="4" name="Shape 2"/>
          <p:cNvSpPr/>
          <p:nvPr/>
        </p:nvSpPr>
        <p:spPr>
          <a:xfrm>
            <a:off x="868680" y="457200"/>
            <a:ext cx="64008" cy="64008"/>
          </a:xfrm>
          <a:prstGeom prst="ellipse">
            <a:avLst/>
          </a:prstGeom>
          <a:solidFill>
            <a:srgbClr val="16233A"/>
          </a:solidFill>
          <a:ln/>
        </p:spPr>
      </p:sp>
      <p:sp>
        <p:nvSpPr>
          <p:cNvPr id="5" name="Shape 3"/>
          <p:cNvSpPr/>
          <p:nvPr/>
        </p:nvSpPr>
        <p:spPr>
          <a:xfrm>
            <a:off x="642366" y="588462"/>
            <a:ext cx="64008" cy="64008"/>
          </a:xfrm>
          <a:prstGeom prst="ellipse">
            <a:avLst/>
          </a:prstGeom>
          <a:solidFill>
            <a:srgbClr val="2F6FB0"/>
          </a:solidFill>
          <a:ln/>
        </p:spPr>
      </p:sp>
      <p:sp>
        <p:nvSpPr>
          <p:cNvPr id="6" name="Shape 4"/>
          <p:cNvSpPr/>
          <p:nvPr/>
        </p:nvSpPr>
        <p:spPr>
          <a:xfrm>
            <a:off x="793242" y="588462"/>
            <a:ext cx="64008" cy="64008"/>
          </a:xfrm>
          <a:prstGeom prst="ellipse">
            <a:avLst/>
          </a:prstGeom>
          <a:solidFill>
            <a:srgbClr val="16233A"/>
          </a:solidFill>
          <a:ln/>
        </p:spPr>
      </p:sp>
      <p:sp>
        <p:nvSpPr>
          <p:cNvPr id="7" name="Shape 5"/>
          <p:cNvSpPr/>
          <p:nvPr/>
        </p:nvSpPr>
        <p:spPr>
          <a:xfrm>
            <a:off x="717804" y="719724"/>
            <a:ext cx="64008" cy="64008"/>
          </a:xfrm>
          <a:prstGeom prst="ellipse">
            <a:avLst/>
          </a:prstGeom>
          <a:solidFill>
            <a:srgbClr val="16233A"/>
          </a:solidFill>
          <a:ln/>
        </p:spPr>
      </p:sp>
      <p:sp>
        <p:nvSpPr>
          <p:cNvPr id="8" name="Text 6"/>
          <p:cNvSpPr/>
          <p:nvPr/>
        </p:nvSpPr>
        <p:spPr>
          <a:xfrm>
            <a:off x="1143000" y="420624"/>
            <a:ext cx="8229600" cy="228600"/>
          </a:xfrm>
          <a:prstGeom prst="rect">
            <a:avLst/>
          </a:prstGeom>
          <a:noFill/>
          <a:ln/>
        </p:spPr>
        <p:txBody>
          <a:bodyPr wrap="square" rtlCol="0" anchor="ctr"/>
          <a:lstStyle/>
          <a:p>
            <a:pPr indent="0" marL="0">
              <a:buNone/>
            </a:pPr>
            <a:r>
              <a:rPr lang="en-US" sz="1000" b="1" spc="200" kern="0" dirty="0">
                <a:solidFill>
                  <a:srgbClr val="2F6FB0"/>
                </a:solidFill>
                <a:latin typeface="IBM Plex Mono" pitchFamily="34" charset="0"/>
                <a:ea typeface="IBM Plex Mono" pitchFamily="34" charset="-122"/>
                <a:cs typeface="IBM Plex Mono" pitchFamily="34" charset="-120"/>
              </a:rPr>
              <a:t>POST-LITT FOLLOW-UP</a:t>
            </a:r>
            <a:endParaRPr lang="en-US" sz="1000" dirty="0"/>
          </a:p>
        </p:txBody>
      </p:sp>
      <p:sp>
        <p:nvSpPr>
          <p:cNvPr id="9" name="Text 7"/>
          <p:cNvSpPr/>
          <p:nvPr/>
        </p:nvSpPr>
        <p:spPr>
          <a:xfrm>
            <a:off x="1143000" y="640080"/>
            <a:ext cx="10424160" cy="502920"/>
          </a:xfrm>
          <a:prstGeom prst="rect">
            <a:avLst/>
          </a:prstGeom>
          <a:noFill/>
          <a:ln/>
        </p:spPr>
        <p:txBody>
          <a:bodyPr wrap="square" rtlCol="0" anchor="ctr"/>
          <a:lstStyle/>
          <a:p>
            <a:pPr indent="0" marL="0">
              <a:buNone/>
            </a:pPr>
            <a:r>
              <a:rPr lang="en-US" sz="2400" b="1" dirty="0">
                <a:solidFill>
                  <a:srgbClr val="16233A"/>
                </a:solidFill>
                <a:latin typeface="Space Grotesk" pitchFamily="34" charset="0"/>
                <a:ea typeface="Space Grotesk" pitchFamily="34" charset="-122"/>
                <a:cs typeface="Space Grotesk" pitchFamily="34" charset="-120"/>
              </a:rPr>
              <a:t>What to watch</a:t>
            </a:r>
            <a:endParaRPr lang="en-US" sz="2400" dirty="0"/>
          </a:p>
        </p:txBody>
      </p:sp>
      <p:sp>
        <p:nvSpPr>
          <p:cNvPr id="10" name="Shape 8"/>
          <p:cNvSpPr/>
          <p:nvPr/>
        </p:nvSpPr>
        <p:spPr>
          <a:xfrm>
            <a:off x="566928" y="1298448"/>
            <a:ext cx="11064240" cy="0"/>
          </a:xfrm>
          <a:prstGeom prst="line">
            <a:avLst/>
          </a:prstGeom>
          <a:noFill/>
          <a:ln w="12700">
            <a:solidFill>
              <a:srgbClr val="D7DEE8"/>
            </a:solidFill>
            <a:prstDash val="solid"/>
          </a:ln>
        </p:spPr>
      </p:sp>
      <p:sp>
        <p:nvSpPr>
          <p:cNvPr id="11" name="Text 9"/>
          <p:cNvSpPr/>
          <p:nvPr/>
        </p:nvSpPr>
        <p:spPr>
          <a:xfrm>
            <a:off x="566928" y="1508760"/>
            <a:ext cx="11064240" cy="457200"/>
          </a:xfrm>
          <a:prstGeom prst="rect">
            <a:avLst/>
          </a:prstGeom>
          <a:noFill/>
          <a:ln/>
        </p:spPr>
        <p:txBody>
          <a:bodyPr wrap="square" rtlCol="0" anchor="t"/>
          <a:lstStyle/>
          <a:p>
            <a:pPr indent="0" marL="0">
              <a:lnSpc>
                <a:spcPct val="112000"/>
              </a:lnSpc>
              <a:buNone/>
            </a:pPr>
            <a:r>
              <a:rPr lang="en-US" sz="1200" b="1" dirty="0">
                <a:solidFill>
                  <a:srgbClr val="16233A"/>
                </a:solidFill>
                <a:latin typeface="Inter" pitchFamily="34" charset="0"/>
                <a:ea typeface="Inter" pitchFamily="34" charset="-122"/>
                <a:cs typeface="Inter" pitchFamily="34" charset="-120"/>
              </a:rPr>
              <a:t>Early MRI may look worse before it looks better.  </a:t>
            </a:r>
            <a:pPr indent="0" marL="0">
              <a:lnSpc>
                <a:spcPct val="112000"/>
              </a:lnSpc>
              <a:buNone/>
            </a:pPr>
            <a:r>
              <a:rPr lang="en-US" sz="1200" dirty="0">
                <a:solidFill>
                  <a:srgbClr val="46505F"/>
                </a:solidFill>
                <a:latin typeface="Inter" pitchFamily="34" charset="0"/>
                <a:ea typeface="Inter" pitchFamily="34" charset="-122"/>
                <a:cs typeface="Inter" pitchFamily="34" charset="-120"/>
              </a:rPr>
              <a:t>Transient ablation-zone enlargement, rim enhancement, and edema may reflect post-ablation evolution rather than immediate tumor progression.</a:t>
            </a:r>
            <a:endParaRPr lang="en-US" sz="1200" dirty="0"/>
          </a:p>
        </p:txBody>
      </p:sp>
      <p:sp>
        <p:nvSpPr>
          <p:cNvPr id="12" name="Text 10"/>
          <p:cNvSpPr/>
          <p:nvPr/>
        </p:nvSpPr>
        <p:spPr>
          <a:xfrm>
            <a:off x="566928" y="2039112"/>
            <a:ext cx="11064240" cy="457200"/>
          </a:xfrm>
          <a:prstGeom prst="rect">
            <a:avLst/>
          </a:prstGeom>
          <a:noFill/>
          <a:ln/>
        </p:spPr>
        <p:txBody>
          <a:bodyPr wrap="square" rtlCol="0" anchor="t"/>
          <a:lstStyle/>
          <a:p>
            <a:pPr indent="0" marL="0">
              <a:lnSpc>
                <a:spcPct val="112000"/>
              </a:lnSpc>
              <a:buNone/>
            </a:pPr>
            <a:r>
              <a:rPr lang="en-US" sz="1200" b="1" dirty="0">
                <a:solidFill>
                  <a:srgbClr val="16233A"/>
                </a:solidFill>
                <a:latin typeface="Inter" pitchFamily="34" charset="0"/>
                <a:ea typeface="Inter" pitchFamily="34" charset="-122"/>
                <a:cs typeface="Inter" pitchFamily="34" charset="-120"/>
              </a:rPr>
              <a:t>Do not overcall one scan.  </a:t>
            </a:r>
            <a:pPr indent="0" marL="0">
              <a:lnSpc>
                <a:spcPct val="112000"/>
              </a:lnSpc>
              <a:buNone/>
            </a:pPr>
            <a:r>
              <a:rPr lang="en-US" sz="1200" dirty="0">
                <a:solidFill>
                  <a:srgbClr val="46505F"/>
                </a:solidFill>
                <a:latin typeface="Inter" pitchFamily="34" charset="0"/>
                <a:ea typeface="Inter" pitchFamily="34" charset="-122"/>
                <a:cs typeface="Inter" pitchFamily="34" charset="-120"/>
              </a:rPr>
              <a:t>Interpret imaging together with neurologic status, steroid requirement, timing from LITT, and the serial MRI trend.</a:t>
            </a:r>
            <a:endParaRPr lang="en-US" sz="1200" dirty="0"/>
          </a:p>
        </p:txBody>
      </p:sp>
      <p:sp>
        <p:nvSpPr>
          <p:cNvPr id="13" name="Text 11"/>
          <p:cNvSpPr/>
          <p:nvPr/>
        </p:nvSpPr>
        <p:spPr>
          <a:xfrm>
            <a:off x="566928" y="2569464"/>
            <a:ext cx="11064240" cy="457200"/>
          </a:xfrm>
          <a:prstGeom prst="rect">
            <a:avLst/>
          </a:prstGeom>
          <a:noFill/>
          <a:ln/>
        </p:spPr>
        <p:txBody>
          <a:bodyPr wrap="square" rtlCol="0" anchor="t"/>
          <a:lstStyle/>
          <a:p>
            <a:pPr indent="0" marL="0">
              <a:lnSpc>
                <a:spcPct val="112000"/>
              </a:lnSpc>
              <a:buNone/>
            </a:pPr>
            <a:r>
              <a:rPr lang="en-US" sz="1200" b="1" dirty="0">
                <a:solidFill>
                  <a:srgbClr val="16233A"/>
                </a:solidFill>
                <a:latin typeface="Inter" pitchFamily="34" charset="0"/>
                <a:ea typeface="Inter" pitchFamily="34" charset="-122"/>
                <a:cs typeface="Inter" pitchFamily="34" charset="-120"/>
              </a:rPr>
              <a:t>Remember the biology.  </a:t>
            </a:r>
            <a:pPr indent="0" marL="0">
              <a:lnSpc>
                <a:spcPct val="112000"/>
              </a:lnSpc>
              <a:buNone/>
            </a:pPr>
            <a:r>
              <a:rPr lang="en-US" sz="1200" dirty="0">
                <a:solidFill>
                  <a:srgbClr val="46505F"/>
                </a:solidFill>
                <a:latin typeface="Inter" pitchFamily="34" charset="0"/>
                <a:ea typeface="Inter" pitchFamily="34" charset="-122"/>
                <a:cs typeface="Inter" pitchFamily="34" charset="-120"/>
              </a:rPr>
              <a:t>LITT treats the targeted enhancing volume; glioma remains infiltrative and can progress outside the ablation zone.</a:t>
            </a:r>
            <a:endParaRPr lang="en-US" sz="1200" dirty="0"/>
          </a:p>
        </p:txBody>
      </p:sp>
      <p:sp>
        <p:nvSpPr>
          <p:cNvPr id="14" name="Text 12"/>
          <p:cNvSpPr/>
          <p:nvPr/>
        </p:nvSpPr>
        <p:spPr>
          <a:xfrm>
            <a:off x="566928" y="3099816"/>
            <a:ext cx="11064240" cy="457200"/>
          </a:xfrm>
          <a:prstGeom prst="rect">
            <a:avLst/>
          </a:prstGeom>
          <a:noFill/>
          <a:ln/>
        </p:spPr>
        <p:txBody>
          <a:bodyPr wrap="square" rtlCol="0" anchor="t"/>
          <a:lstStyle/>
          <a:p>
            <a:pPr indent="0" marL="0">
              <a:lnSpc>
                <a:spcPct val="112000"/>
              </a:lnSpc>
              <a:buNone/>
            </a:pPr>
            <a:r>
              <a:rPr lang="en-US" sz="1200" b="1" dirty="0">
                <a:solidFill>
                  <a:srgbClr val="16233A"/>
                </a:solidFill>
                <a:latin typeface="Inter" pitchFamily="34" charset="0"/>
                <a:ea typeface="Inter" pitchFamily="34" charset="-122"/>
                <a:cs typeface="Inter" pitchFamily="34" charset="-120"/>
              </a:rPr>
              <a:t>Neuro-oncology planning remains central.  </a:t>
            </a:r>
            <a:pPr indent="0" marL="0">
              <a:lnSpc>
                <a:spcPct val="112000"/>
              </a:lnSpc>
              <a:buNone/>
            </a:pPr>
            <a:r>
              <a:rPr lang="en-US" sz="1200" dirty="0">
                <a:solidFill>
                  <a:srgbClr val="46505F"/>
                </a:solidFill>
                <a:latin typeface="Inter" pitchFamily="34" charset="0"/>
                <a:ea typeface="Inter" pitchFamily="34" charset="-122"/>
                <a:cs typeface="Inter" pitchFamily="34" charset="-120"/>
              </a:rPr>
              <a:t>Systemic therapy, re-irradiation, trial eligibility, or additional intervention should be guided by pathology, molecular profile, performance status, and imaging trend.</a:t>
            </a:r>
            <a:endParaRPr lang="en-US" sz="1200" dirty="0"/>
          </a:p>
        </p:txBody>
      </p:sp>
      <p:sp>
        <p:nvSpPr>
          <p:cNvPr id="15" name="Text 13"/>
          <p:cNvSpPr/>
          <p:nvPr/>
        </p:nvSpPr>
        <p:spPr>
          <a:xfrm>
            <a:off x="566928" y="3630168"/>
            <a:ext cx="11064240" cy="457200"/>
          </a:xfrm>
          <a:prstGeom prst="rect">
            <a:avLst/>
          </a:prstGeom>
          <a:noFill/>
          <a:ln/>
        </p:spPr>
        <p:txBody>
          <a:bodyPr wrap="square" rtlCol="0" anchor="t"/>
          <a:lstStyle/>
          <a:p>
            <a:pPr indent="0" marL="0">
              <a:lnSpc>
                <a:spcPct val="112000"/>
              </a:lnSpc>
              <a:buNone/>
            </a:pPr>
            <a:r>
              <a:rPr lang="en-US" sz="1200" b="1" dirty="0">
                <a:solidFill>
                  <a:srgbClr val="16233A"/>
                </a:solidFill>
                <a:latin typeface="Inter" pitchFamily="34" charset="0"/>
                <a:ea typeface="Inter" pitchFamily="34" charset="-122"/>
                <a:cs typeface="Inter" pitchFamily="34" charset="-120"/>
              </a:rPr>
              <a:t>Escalate concern if.  </a:t>
            </a:r>
            <a:pPr indent="0" marL="0">
              <a:lnSpc>
                <a:spcPct val="112000"/>
              </a:lnSpc>
              <a:buNone/>
            </a:pPr>
            <a:r>
              <a:rPr lang="en-US" sz="1200" dirty="0">
                <a:solidFill>
                  <a:srgbClr val="46505F"/>
                </a:solidFill>
                <a:latin typeface="Inter" pitchFamily="34" charset="0"/>
                <a:ea typeface="Inter" pitchFamily="34" charset="-122"/>
                <a:cs typeface="Inter" pitchFamily="34" charset="-120"/>
              </a:rPr>
              <a:t>Neurologic decline, rising steroid need, unexpected mass effect, rapid progression outside the treated target, or an imaging and clinical mismatch.</a:t>
            </a:r>
            <a:endParaRPr lang="en-US" sz="1200" dirty="0"/>
          </a:p>
        </p:txBody>
      </p:sp>
      <p:sp>
        <p:nvSpPr>
          <p:cNvPr id="16" name="Text 14"/>
          <p:cNvSpPr/>
          <p:nvPr/>
        </p:nvSpPr>
        <p:spPr>
          <a:xfrm>
            <a:off x="566928" y="4178808"/>
            <a:ext cx="4572000" cy="201168"/>
          </a:xfrm>
          <a:prstGeom prst="rect">
            <a:avLst/>
          </a:prstGeom>
          <a:noFill/>
          <a:ln/>
        </p:spPr>
        <p:txBody>
          <a:bodyPr wrap="square" rtlCol="0" anchor="ctr"/>
          <a:lstStyle/>
          <a:p>
            <a:pPr indent="0" marL="0">
              <a:buNone/>
            </a:pPr>
            <a:r>
              <a:rPr lang="en-US" sz="850" spc="150" kern="0" dirty="0">
                <a:solidFill>
                  <a:srgbClr val="2F6FB0"/>
                </a:solidFill>
                <a:latin typeface="IBM Plex Mono" pitchFamily="34" charset="0"/>
                <a:ea typeface="IBM Plex Mono" pitchFamily="34" charset="-122"/>
                <a:cs typeface="IBM Plex Mono" pitchFamily="34" charset="-120"/>
              </a:rPr>
              <a:t>CASE-SPECIFIC</a:t>
            </a:r>
            <a:endParaRPr lang="en-US" sz="850" dirty="0"/>
          </a:p>
        </p:txBody>
      </p:sp>
      <p:sp>
        <p:nvSpPr>
          <p:cNvPr id="17" name="Text 15"/>
          <p:cNvSpPr/>
          <p:nvPr/>
        </p:nvSpPr>
        <p:spPr>
          <a:xfrm>
            <a:off x="566928" y="4434840"/>
            <a:ext cx="11064240" cy="457200"/>
          </a:xfrm>
          <a:prstGeom prst="rect">
            <a:avLst/>
          </a:prstGeom>
          <a:noFill/>
          <a:ln/>
        </p:spPr>
        <p:txBody>
          <a:bodyPr wrap="square" rtlCol="0" anchor="t"/>
          <a:lstStyle/>
          <a:p>
            <a:pPr indent="0" marL="0">
              <a:lnSpc>
                <a:spcPct val="112000"/>
              </a:lnSpc>
              <a:buNone/>
            </a:pPr>
            <a:r>
              <a:rPr lang="en-US" sz="1200" b="1" dirty="0">
                <a:solidFill>
                  <a:srgbClr val="16233A"/>
                </a:solidFill>
                <a:latin typeface="Inter" pitchFamily="34" charset="0"/>
                <a:ea typeface="Inter" pitchFamily="34" charset="-122"/>
                <a:cs typeface="Inter" pitchFamily="34" charset="-120"/>
              </a:rPr>
              <a:t>Use tissue to guide next treatment.  </a:t>
            </a:r>
            <a:pPr indent="0" marL="0">
              <a:lnSpc>
                <a:spcPct val="112000"/>
              </a:lnSpc>
              <a:buNone/>
            </a:pPr>
            <a:r>
              <a:rPr lang="en-US" sz="1200" dirty="0">
                <a:solidFill>
                  <a:srgbClr val="46505F"/>
                </a:solidFill>
                <a:latin typeface="Inter" pitchFamily="34" charset="0"/>
                <a:ea typeface="Inter" pitchFamily="34" charset="-122"/>
                <a:cs typeface="Inter" pitchFamily="34" charset="-120"/>
              </a:rPr>
              <a:t>Pathology and molecular findings should be integrated with post-LITT imaging and systemic-treatment planning.</a:t>
            </a:r>
            <a:endParaRPr lang="en-US" sz="1200" dirty="0"/>
          </a:p>
        </p:txBody>
      </p:sp>
      <p:sp>
        <p:nvSpPr>
          <p:cNvPr id="18" name="Text 16"/>
          <p:cNvSpPr/>
          <p:nvPr/>
        </p:nvSpPr>
        <p:spPr>
          <a:xfrm>
            <a:off x="566928" y="5989320"/>
            <a:ext cx="11064240" cy="320040"/>
          </a:xfrm>
          <a:prstGeom prst="rect">
            <a:avLst/>
          </a:prstGeom>
          <a:noFill/>
          <a:ln/>
        </p:spPr>
        <p:txBody>
          <a:bodyPr wrap="square" rtlCol="0" anchor="t"/>
          <a:lstStyle/>
          <a:p>
            <a:pPr indent="0" marL="0">
              <a:buNone/>
            </a:pPr>
            <a:r>
              <a:rPr lang="en-US" sz="850" i="1" dirty="0">
                <a:solidFill>
                  <a:srgbClr val="7A8694"/>
                </a:solidFill>
                <a:latin typeface="Inter" pitchFamily="34" charset="0"/>
                <a:ea typeface="Inter" pitchFamily="34" charset="-122"/>
                <a:cs typeface="Inter" pitchFamily="34" charset="-120"/>
              </a:rPr>
              <a:t>These follow-up points support interpretation of the post-procedure course and do not replace the treating physician's clinical judgment, operative report, pathology review, or institution-specific follow-up protocol.</a:t>
            </a:r>
            <a:endParaRPr lang="en-US" sz="850" dirty="0"/>
          </a:p>
        </p:txBody>
      </p:sp>
      <p:sp>
        <p:nvSpPr>
          <p:cNvPr id="19" name="Shape 17"/>
          <p:cNvSpPr/>
          <p:nvPr/>
        </p:nvSpPr>
        <p:spPr>
          <a:xfrm>
            <a:off x="566928" y="6355080"/>
            <a:ext cx="11064240" cy="0"/>
          </a:xfrm>
          <a:prstGeom prst="line">
            <a:avLst/>
          </a:prstGeom>
          <a:noFill/>
          <a:ln w="9525">
            <a:solidFill>
              <a:srgbClr val="D7DEE8"/>
            </a:solidFill>
            <a:prstDash val="solid"/>
          </a:ln>
        </p:spPr>
      </p:sp>
      <p:sp>
        <p:nvSpPr>
          <p:cNvPr id="20" name="Text 18"/>
          <p:cNvSpPr/>
          <p:nvPr/>
        </p:nvSpPr>
        <p:spPr>
          <a:xfrm>
            <a:off x="566928" y="6400800"/>
            <a:ext cx="8778240" cy="365760"/>
          </a:xfrm>
          <a:prstGeom prst="rect">
            <a:avLst/>
          </a:prstGeom>
          <a:noFill/>
          <a:ln/>
        </p:spPr>
        <p:txBody>
          <a:bodyPr wrap="square" rtlCol="0" anchor="t"/>
          <a:lstStyle/>
          <a:p>
            <a:pPr indent="0" marL="0">
              <a:lnSpc>
                <a:spcPct val="100000"/>
              </a:lnSpc>
              <a:buNone/>
            </a:pPr>
            <a:r>
              <a:rPr lang="en-US" sz="650" dirty="0">
                <a:solidFill>
                  <a:srgbClr val="7A8694"/>
                </a:solidFill>
                <a:latin typeface="Inter" pitchFamily="34" charset="0"/>
                <a:ea typeface="Inter" pitchFamily="34" charset="-122"/>
                <a:cs typeface="Inter" pitchFamily="34" charset="-120"/>
              </a:rPr>
              <a:t>The NeuroBlate System is a surgical tool and is not a treatment for any specific disease state or condition. For informational purposes only; does not replace the formal operative report and does not describe clinical outcomes. Rx Only.</a:t>
            </a:r>
            <a:endParaRPr lang="en-US" sz="650" dirty="0"/>
          </a:p>
        </p:txBody>
      </p:sp>
      <p:sp>
        <p:nvSpPr>
          <p:cNvPr id="21" name="Text 19"/>
          <p:cNvSpPr/>
          <p:nvPr/>
        </p:nvSpPr>
        <p:spPr>
          <a:xfrm>
            <a:off x="9418320" y="640080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Case WMC-058  ·  Recurrent right frontal glioma</a:t>
            </a:r>
            <a:endParaRPr lang="en-US" sz="700" dirty="0"/>
          </a:p>
        </p:txBody>
      </p:sp>
      <p:sp>
        <p:nvSpPr>
          <p:cNvPr id="22" name="Text 20"/>
          <p:cNvSpPr/>
          <p:nvPr/>
        </p:nvSpPr>
        <p:spPr>
          <a:xfrm>
            <a:off x="9418320" y="658368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64008" cy="64008"/>
          </a:xfrm>
          <a:prstGeom prst="ellipse">
            <a:avLst/>
          </a:prstGeom>
          <a:solidFill>
            <a:srgbClr val="2F6FB0"/>
          </a:solidFill>
          <a:ln/>
        </p:spPr>
      </p:sp>
      <p:sp>
        <p:nvSpPr>
          <p:cNvPr id="3" name="Shape 1"/>
          <p:cNvSpPr/>
          <p:nvPr/>
        </p:nvSpPr>
        <p:spPr>
          <a:xfrm>
            <a:off x="717804" y="457200"/>
            <a:ext cx="64008" cy="64008"/>
          </a:xfrm>
          <a:prstGeom prst="ellipse">
            <a:avLst/>
          </a:prstGeom>
          <a:solidFill>
            <a:srgbClr val="16233A"/>
          </a:solidFill>
          <a:ln/>
        </p:spPr>
      </p:sp>
      <p:sp>
        <p:nvSpPr>
          <p:cNvPr id="4" name="Shape 2"/>
          <p:cNvSpPr/>
          <p:nvPr/>
        </p:nvSpPr>
        <p:spPr>
          <a:xfrm>
            <a:off x="868680" y="457200"/>
            <a:ext cx="64008" cy="64008"/>
          </a:xfrm>
          <a:prstGeom prst="ellipse">
            <a:avLst/>
          </a:prstGeom>
          <a:solidFill>
            <a:srgbClr val="16233A"/>
          </a:solidFill>
          <a:ln/>
        </p:spPr>
      </p:sp>
      <p:sp>
        <p:nvSpPr>
          <p:cNvPr id="5" name="Shape 3"/>
          <p:cNvSpPr/>
          <p:nvPr/>
        </p:nvSpPr>
        <p:spPr>
          <a:xfrm>
            <a:off x="642366" y="588462"/>
            <a:ext cx="64008" cy="64008"/>
          </a:xfrm>
          <a:prstGeom prst="ellipse">
            <a:avLst/>
          </a:prstGeom>
          <a:solidFill>
            <a:srgbClr val="2F6FB0"/>
          </a:solidFill>
          <a:ln/>
        </p:spPr>
      </p:sp>
      <p:sp>
        <p:nvSpPr>
          <p:cNvPr id="6" name="Shape 4"/>
          <p:cNvSpPr/>
          <p:nvPr/>
        </p:nvSpPr>
        <p:spPr>
          <a:xfrm>
            <a:off x="793242" y="588462"/>
            <a:ext cx="64008" cy="64008"/>
          </a:xfrm>
          <a:prstGeom prst="ellipse">
            <a:avLst/>
          </a:prstGeom>
          <a:solidFill>
            <a:srgbClr val="16233A"/>
          </a:solidFill>
          <a:ln/>
        </p:spPr>
      </p:sp>
      <p:sp>
        <p:nvSpPr>
          <p:cNvPr id="7" name="Shape 5"/>
          <p:cNvSpPr/>
          <p:nvPr/>
        </p:nvSpPr>
        <p:spPr>
          <a:xfrm>
            <a:off x="717804" y="719724"/>
            <a:ext cx="64008" cy="64008"/>
          </a:xfrm>
          <a:prstGeom prst="ellipse">
            <a:avLst/>
          </a:prstGeom>
          <a:solidFill>
            <a:srgbClr val="16233A"/>
          </a:solidFill>
          <a:ln/>
        </p:spPr>
      </p:sp>
      <p:sp>
        <p:nvSpPr>
          <p:cNvPr id="8" name="Text 6"/>
          <p:cNvSpPr/>
          <p:nvPr/>
        </p:nvSpPr>
        <p:spPr>
          <a:xfrm>
            <a:off x="1143000" y="420624"/>
            <a:ext cx="8229600" cy="228600"/>
          </a:xfrm>
          <a:prstGeom prst="rect">
            <a:avLst/>
          </a:prstGeom>
          <a:noFill/>
          <a:ln/>
        </p:spPr>
        <p:txBody>
          <a:bodyPr wrap="square" rtlCol="0" anchor="ctr"/>
          <a:lstStyle/>
          <a:p>
            <a:pPr indent="0" marL="0">
              <a:buNone/>
            </a:pPr>
            <a:r>
              <a:rPr lang="en-US" sz="1000" b="1" spc="200" kern="0" dirty="0">
                <a:solidFill>
                  <a:srgbClr val="2F6FB0"/>
                </a:solidFill>
                <a:latin typeface="IBM Plex Mono" pitchFamily="34" charset="0"/>
                <a:ea typeface="IBM Plex Mono" pitchFamily="34" charset="-122"/>
                <a:cs typeface="IBM Plex Mono" pitchFamily="34" charset="-120"/>
              </a:rPr>
              <a:t>SELECTED LITERATURE</a:t>
            </a:r>
            <a:endParaRPr lang="en-US" sz="1000" dirty="0"/>
          </a:p>
        </p:txBody>
      </p:sp>
      <p:sp>
        <p:nvSpPr>
          <p:cNvPr id="9" name="Text 7"/>
          <p:cNvSpPr/>
          <p:nvPr/>
        </p:nvSpPr>
        <p:spPr>
          <a:xfrm>
            <a:off x="1143000" y="640080"/>
            <a:ext cx="10424160" cy="502920"/>
          </a:xfrm>
          <a:prstGeom prst="rect">
            <a:avLst/>
          </a:prstGeom>
          <a:noFill/>
          <a:ln/>
        </p:spPr>
        <p:txBody>
          <a:bodyPr wrap="square" rtlCol="0" anchor="ctr"/>
          <a:lstStyle/>
          <a:p>
            <a:pPr indent="0" marL="0">
              <a:buNone/>
            </a:pPr>
            <a:r>
              <a:rPr lang="en-US" sz="2400" b="1" dirty="0">
                <a:solidFill>
                  <a:srgbClr val="16233A"/>
                </a:solidFill>
                <a:latin typeface="Space Grotesk" pitchFamily="34" charset="0"/>
                <a:ea typeface="Space Grotesk" pitchFamily="34" charset="-122"/>
                <a:cs typeface="Space Grotesk" pitchFamily="34" charset="-120"/>
              </a:rPr>
              <a:t>Key references &amp; society guidance</a:t>
            </a:r>
            <a:endParaRPr lang="en-US" sz="2400" dirty="0"/>
          </a:p>
        </p:txBody>
      </p:sp>
      <p:sp>
        <p:nvSpPr>
          <p:cNvPr id="10" name="Shape 8"/>
          <p:cNvSpPr/>
          <p:nvPr/>
        </p:nvSpPr>
        <p:spPr>
          <a:xfrm>
            <a:off x="566928" y="1298448"/>
            <a:ext cx="11064240" cy="0"/>
          </a:xfrm>
          <a:prstGeom prst="line">
            <a:avLst/>
          </a:prstGeom>
          <a:noFill/>
          <a:ln w="12700">
            <a:solidFill>
              <a:srgbClr val="D7DEE8"/>
            </a:solidFill>
            <a:prstDash val="solid"/>
          </a:ln>
        </p:spPr>
      </p:sp>
      <p:sp>
        <p:nvSpPr>
          <p:cNvPr id="11" name="Text 9"/>
          <p:cNvSpPr/>
          <p:nvPr/>
        </p:nvSpPr>
        <p:spPr>
          <a:xfrm>
            <a:off x="566928" y="1298448"/>
            <a:ext cx="5486400" cy="219456"/>
          </a:xfrm>
          <a:prstGeom prst="rect">
            <a:avLst/>
          </a:prstGeom>
          <a:noFill/>
          <a:ln/>
        </p:spPr>
        <p:txBody>
          <a:bodyPr wrap="square" rtlCol="0" anchor="ctr"/>
          <a:lstStyle/>
          <a:p>
            <a:pPr indent="0" marL="0">
              <a:buNone/>
            </a:pPr>
            <a:r>
              <a:rPr lang="en-US" sz="900" spc="150" kern="0" dirty="0">
                <a:solidFill>
                  <a:srgbClr val="2F6FB0"/>
                </a:solidFill>
                <a:latin typeface="IBM Plex Mono" pitchFamily="34" charset="0"/>
                <a:ea typeface="IBM Plex Mono" pitchFamily="34" charset="-122"/>
                <a:cs typeface="IBM Plex Mono" pitchFamily="34" charset="-120"/>
              </a:rPr>
              <a:t>KEY REFERENCES</a:t>
            </a:r>
            <a:endParaRPr lang="en-US" sz="900" dirty="0"/>
          </a:p>
        </p:txBody>
      </p:sp>
      <p:sp>
        <p:nvSpPr>
          <p:cNvPr id="12" name="Text 10"/>
          <p:cNvSpPr/>
          <p:nvPr/>
        </p:nvSpPr>
        <p:spPr>
          <a:xfrm>
            <a:off x="566928" y="1554480"/>
            <a:ext cx="256032" cy="237744"/>
          </a:xfrm>
          <a:prstGeom prst="rect">
            <a:avLst/>
          </a:prstGeom>
          <a:solidFill>
            <a:srgbClr val="16233A"/>
          </a:solidFill>
          <a:ln/>
        </p:spPr>
        <p:txBody>
          <a:bodyPr wrap="square" rtlCol="0" anchor="ctr"/>
          <a:lstStyle/>
          <a:p>
            <a:pPr algn="ctr" indent="0" marL="0">
              <a:buNone/>
            </a:pPr>
            <a:r>
              <a:rPr lang="en-US" sz="900" dirty="0">
                <a:solidFill>
                  <a:srgbClr val="FFFFFF"/>
                </a:solidFill>
                <a:latin typeface="IBM Plex Mono" pitchFamily="34" charset="0"/>
                <a:ea typeface="IBM Plex Mono" pitchFamily="34" charset="-122"/>
                <a:cs typeface="IBM Plex Mono" pitchFamily="34" charset="-120"/>
              </a:rPr>
              <a:t>1</a:t>
            </a:r>
            <a:endParaRPr lang="en-US" sz="900" dirty="0"/>
          </a:p>
        </p:txBody>
      </p:sp>
      <p:sp>
        <p:nvSpPr>
          <p:cNvPr id="13" name="Text 11"/>
          <p:cNvSpPr/>
          <p:nvPr/>
        </p:nvSpPr>
        <p:spPr>
          <a:xfrm>
            <a:off x="932688" y="1536192"/>
            <a:ext cx="5120640" cy="237744"/>
          </a:xfrm>
          <a:prstGeom prst="rect">
            <a:avLst/>
          </a:prstGeom>
          <a:noFill/>
          <a:ln/>
        </p:spPr>
        <p:txBody>
          <a:bodyPr wrap="square" rtlCol="0" anchor="t"/>
          <a:lstStyle/>
          <a:p>
            <a:pPr indent="0" marL="0">
              <a:buNone/>
            </a:pPr>
            <a:r>
              <a:rPr lang="en-US" sz="950" b="1" dirty="0">
                <a:solidFill>
                  <a:srgbClr val="16233A"/>
                </a:solidFill>
                <a:latin typeface="IBM Plex Mono" pitchFamily="34" charset="0"/>
                <a:ea typeface="IBM Plex Mono" pitchFamily="34" charset="-122"/>
                <a:cs typeface="IBM Plex Mono" pitchFamily="34" charset="-120"/>
              </a:rPr>
              <a:t>de Groot JF et al. Neuro-Oncol Adv. 2022;4(1):vdac040.</a:t>
            </a:r>
            <a:endParaRPr lang="en-US" sz="950" dirty="0"/>
          </a:p>
        </p:txBody>
      </p:sp>
      <p:sp>
        <p:nvSpPr>
          <p:cNvPr id="14" name="Text 12"/>
          <p:cNvSpPr/>
          <p:nvPr/>
        </p:nvSpPr>
        <p:spPr>
          <a:xfrm>
            <a:off x="932688" y="1755648"/>
            <a:ext cx="5120640" cy="566928"/>
          </a:xfrm>
          <a:prstGeom prst="rect">
            <a:avLst/>
          </a:prstGeom>
          <a:noFill/>
          <a:ln/>
        </p:spPr>
        <p:txBody>
          <a:bodyPr wrap="square" rtlCol="0" anchor="t"/>
          <a:lstStyle/>
          <a:p>
            <a:pPr indent="0" marL="0">
              <a:lnSpc>
                <a:spcPct val="105000"/>
              </a:lnSpc>
              <a:buNone/>
            </a:pPr>
            <a:r>
              <a:rPr lang="en-US" sz="900" dirty="0">
                <a:solidFill>
                  <a:srgbClr val="46505F"/>
                </a:solidFill>
                <a:latin typeface="Inter" pitchFamily="34" charset="0"/>
                <a:ea typeface="Inter" pitchFamily="34" charset="-122"/>
                <a:cs typeface="Inter" pitchFamily="34" charset="-120"/>
              </a:rPr>
              <a:t>Prospective LAANTERN cohort of IDH-wildtype glioblastoma reporting survival in selected newly diagnosed and recurrent patients within the range of published resection series.</a:t>
            </a:r>
            <a:endParaRPr lang="en-US" sz="900" dirty="0"/>
          </a:p>
        </p:txBody>
      </p:sp>
      <p:sp>
        <p:nvSpPr>
          <p:cNvPr id="15" name="Text 13"/>
          <p:cNvSpPr/>
          <p:nvPr/>
        </p:nvSpPr>
        <p:spPr>
          <a:xfrm>
            <a:off x="566928" y="2340864"/>
            <a:ext cx="256032" cy="237744"/>
          </a:xfrm>
          <a:prstGeom prst="rect">
            <a:avLst/>
          </a:prstGeom>
          <a:solidFill>
            <a:srgbClr val="16233A"/>
          </a:solidFill>
          <a:ln/>
        </p:spPr>
        <p:txBody>
          <a:bodyPr wrap="square" rtlCol="0" anchor="ctr"/>
          <a:lstStyle/>
          <a:p>
            <a:pPr algn="ctr" indent="0" marL="0">
              <a:buNone/>
            </a:pPr>
            <a:r>
              <a:rPr lang="en-US" sz="900" dirty="0">
                <a:solidFill>
                  <a:srgbClr val="FFFFFF"/>
                </a:solidFill>
                <a:latin typeface="IBM Plex Mono" pitchFamily="34" charset="0"/>
                <a:ea typeface="IBM Plex Mono" pitchFamily="34" charset="-122"/>
                <a:cs typeface="IBM Plex Mono" pitchFamily="34" charset="-120"/>
              </a:rPr>
              <a:t>2</a:t>
            </a:r>
            <a:endParaRPr lang="en-US" sz="900" dirty="0"/>
          </a:p>
        </p:txBody>
      </p:sp>
      <p:sp>
        <p:nvSpPr>
          <p:cNvPr id="16" name="Text 14"/>
          <p:cNvSpPr/>
          <p:nvPr/>
        </p:nvSpPr>
        <p:spPr>
          <a:xfrm>
            <a:off x="932688" y="2322576"/>
            <a:ext cx="5120640" cy="237744"/>
          </a:xfrm>
          <a:prstGeom prst="rect">
            <a:avLst/>
          </a:prstGeom>
          <a:noFill/>
          <a:ln/>
        </p:spPr>
        <p:txBody>
          <a:bodyPr wrap="square" rtlCol="0" anchor="t"/>
          <a:lstStyle/>
          <a:p>
            <a:pPr indent="0" marL="0">
              <a:buNone/>
            </a:pPr>
            <a:r>
              <a:rPr lang="en-US" sz="950" b="1" dirty="0">
                <a:solidFill>
                  <a:srgbClr val="16233A"/>
                </a:solidFill>
                <a:latin typeface="IBM Plex Mono" pitchFamily="34" charset="0"/>
                <a:ea typeface="IBM Plex Mono" pitchFamily="34" charset="-122"/>
                <a:cs typeface="IBM Plex Mono" pitchFamily="34" charset="-120"/>
              </a:rPr>
              <a:t>Kim AH et al. Neurosurgery. 2020;87(3):E338-E346.</a:t>
            </a:r>
            <a:endParaRPr lang="en-US" sz="950" dirty="0"/>
          </a:p>
        </p:txBody>
      </p:sp>
      <p:sp>
        <p:nvSpPr>
          <p:cNvPr id="17" name="Text 15"/>
          <p:cNvSpPr/>
          <p:nvPr/>
        </p:nvSpPr>
        <p:spPr>
          <a:xfrm>
            <a:off x="932688" y="2542032"/>
            <a:ext cx="5120640" cy="566928"/>
          </a:xfrm>
          <a:prstGeom prst="rect">
            <a:avLst/>
          </a:prstGeom>
          <a:noFill/>
          <a:ln/>
        </p:spPr>
        <p:txBody>
          <a:bodyPr wrap="square" rtlCol="0" anchor="t"/>
          <a:lstStyle/>
          <a:p>
            <a:pPr indent="0" marL="0">
              <a:lnSpc>
                <a:spcPct val="105000"/>
              </a:lnSpc>
              <a:buNone/>
            </a:pPr>
            <a:r>
              <a:rPr lang="en-US" sz="900" dirty="0">
                <a:solidFill>
                  <a:srgbClr val="46505F"/>
                </a:solidFill>
                <a:latin typeface="Inter" pitchFamily="34" charset="0"/>
                <a:ea typeface="Inter" pitchFamily="34" charset="-122"/>
                <a:cs typeface="Inter" pitchFamily="34" charset="-120"/>
              </a:rPr>
              <a:t>Prospective multicenter registry of brain-tumor ablation showing short hospitalization, high discharge-to-home rates, and 12-month outcomes with preserved quality of life.</a:t>
            </a:r>
            <a:endParaRPr lang="en-US" sz="900" dirty="0"/>
          </a:p>
        </p:txBody>
      </p:sp>
      <p:sp>
        <p:nvSpPr>
          <p:cNvPr id="18" name="Text 16"/>
          <p:cNvSpPr/>
          <p:nvPr/>
        </p:nvSpPr>
        <p:spPr>
          <a:xfrm>
            <a:off x="566928" y="3127248"/>
            <a:ext cx="256032" cy="237744"/>
          </a:xfrm>
          <a:prstGeom prst="rect">
            <a:avLst/>
          </a:prstGeom>
          <a:solidFill>
            <a:srgbClr val="16233A"/>
          </a:solidFill>
          <a:ln/>
        </p:spPr>
        <p:txBody>
          <a:bodyPr wrap="square" rtlCol="0" anchor="ctr"/>
          <a:lstStyle/>
          <a:p>
            <a:pPr algn="ctr" indent="0" marL="0">
              <a:buNone/>
            </a:pPr>
            <a:r>
              <a:rPr lang="en-US" sz="900" dirty="0">
                <a:solidFill>
                  <a:srgbClr val="FFFFFF"/>
                </a:solidFill>
                <a:latin typeface="IBM Plex Mono" pitchFamily="34" charset="0"/>
                <a:ea typeface="IBM Plex Mono" pitchFamily="34" charset="-122"/>
                <a:cs typeface="IBM Plex Mono" pitchFamily="34" charset="-120"/>
              </a:rPr>
              <a:t>3</a:t>
            </a:r>
            <a:endParaRPr lang="en-US" sz="900" dirty="0"/>
          </a:p>
        </p:txBody>
      </p:sp>
      <p:sp>
        <p:nvSpPr>
          <p:cNvPr id="19" name="Text 17"/>
          <p:cNvSpPr/>
          <p:nvPr/>
        </p:nvSpPr>
        <p:spPr>
          <a:xfrm>
            <a:off x="932688" y="3108960"/>
            <a:ext cx="5120640" cy="237744"/>
          </a:xfrm>
          <a:prstGeom prst="rect">
            <a:avLst/>
          </a:prstGeom>
          <a:noFill/>
          <a:ln/>
        </p:spPr>
        <p:txBody>
          <a:bodyPr wrap="square" rtlCol="0" anchor="t"/>
          <a:lstStyle/>
          <a:p>
            <a:pPr indent="0" marL="0">
              <a:buNone/>
            </a:pPr>
            <a:r>
              <a:rPr lang="en-US" sz="950" b="1" dirty="0">
                <a:solidFill>
                  <a:srgbClr val="16233A"/>
                </a:solidFill>
                <a:latin typeface="IBM Plex Mono" pitchFamily="34" charset="0"/>
                <a:ea typeface="IBM Plex Mono" pitchFamily="34" charset="-122"/>
                <a:cs typeface="IBM Plex Mono" pitchFamily="34" charset="-120"/>
              </a:rPr>
              <a:t>Rennert RC et al. Neurosurgery. 2020;86(4):538-547.</a:t>
            </a:r>
            <a:endParaRPr lang="en-US" sz="950" dirty="0"/>
          </a:p>
        </p:txBody>
      </p:sp>
      <p:sp>
        <p:nvSpPr>
          <p:cNvPr id="20" name="Text 18"/>
          <p:cNvSpPr/>
          <p:nvPr/>
        </p:nvSpPr>
        <p:spPr>
          <a:xfrm>
            <a:off x="932688" y="3328416"/>
            <a:ext cx="5120640" cy="566928"/>
          </a:xfrm>
          <a:prstGeom prst="rect">
            <a:avLst/>
          </a:prstGeom>
          <a:noFill/>
          <a:ln/>
        </p:spPr>
        <p:txBody>
          <a:bodyPr wrap="square" rtlCol="0" anchor="t"/>
          <a:lstStyle/>
          <a:p>
            <a:pPr indent="0" marL="0">
              <a:lnSpc>
                <a:spcPct val="105000"/>
              </a:lnSpc>
              <a:buNone/>
            </a:pPr>
            <a:r>
              <a:rPr lang="en-US" sz="900" dirty="0">
                <a:solidFill>
                  <a:srgbClr val="46505F"/>
                </a:solidFill>
                <a:latin typeface="Inter" pitchFamily="34" charset="0"/>
                <a:ea typeface="Inter" pitchFamily="34" charset="-122"/>
                <a:cs typeface="Inter" pitchFamily="34" charset="-120"/>
              </a:rPr>
              <a:t>Prospective multicenter LAANTERN safety analysis reporting short hospital stays, limited ICU use, and a low peri-procedural complication rate across centers.</a:t>
            </a:r>
            <a:endParaRPr lang="en-US" sz="900" dirty="0"/>
          </a:p>
        </p:txBody>
      </p:sp>
      <p:sp>
        <p:nvSpPr>
          <p:cNvPr id="21" name="Text 19"/>
          <p:cNvSpPr/>
          <p:nvPr/>
        </p:nvSpPr>
        <p:spPr>
          <a:xfrm>
            <a:off x="6309360" y="1298448"/>
            <a:ext cx="5486400" cy="219456"/>
          </a:xfrm>
          <a:prstGeom prst="rect">
            <a:avLst/>
          </a:prstGeom>
          <a:noFill/>
          <a:ln/>
        </p:spPr>
        <p:txBody>
          <a:bodyPr wrap="square" rtlCol="0" anchor="ctr"/>
          <a:lstStyle/>
          <a:p>
            <a:pPr indent="0" marL="0">
              <a:buNone/>
            </a:pPr>
            <a:r>
              <a:rPr lang="en-US" sz="900" spc="150" kern="0" dirty="0">
                <a:solidFill>
                  <a:srgbClr val="2F6FB0"/>
                </a:solidFill>
                <a:latin typeface="IBM Plex Mono" pitchFamily="34" charset="0"/>
                <a:ea typeface="IBM Plex Mono" pitchFamily="34" charset="-122"/>
                <a:cs typeface="IBM Plex Mono" pitchFamily="34" charset="-120"/>
              </a:rPr>
              <a:t>GUIDELINES &amp; SOCIETY STATEMENTS</a:t>
            </a:r>
            <a:endParaRPr lang="en-US" sz="900" dirty="0"/>
          </a:p>
        </p:txBody>
      </p:sp>
      <p:sp>
        <p:nvSpPr>
          <p:cNvPr id="22" name="Shape 20"/>
          <p:cNvSpPr/>
          <p:nvPr/>
        </p:nvSpPr>
        <p:spPr>
          <a:xfrm>
            <a:off x="6089904" y="1371600"/>
            <a:ext cx="0" cy="4572000"/>
          </a:xfrm>
          <a:prstGeom prst="line">
            <a:avLst/>
          </a:prstGeom>
          <a:noFill/>
          <a:ln w="9525">
            <a:solidFill>
              <a:srgbClr val="D7DEE8"/>
            </a:solidFill>
            <a:prstDash val="solid"/>
          </a:ln>
        </p:spPr>
      </p:sp>
      <p:sp>
        <p:nvSpPr>
          <p:cNvPr id="23" name="Text 21"/>
          <p:cNvSpPr/>
          <p:nvPr/>
        </p:nvSpPr>
        <p:spPr>
          <a:xfrm>
            <a:off x="6309360" y="1554480"/>
            <a:ext cx="256032" cy="237744"/>
          </a:xfrm>
          <a:prstGeom prst="rect">
            <a:avLst/>
          </a:prstGeom>
          <a:solidFill>
            <a:srgbClr val="16233A"/>
          </a:solidFill>
          <a:ln/>
        </p:spPr>
        <p:txBody>
          <a:bodyPr wrap="square" rtlCol="0" anchor="ctr"/>
          <a:lstStyle/>
          <a:p>
            <a:pPr algn="ctr" indent="0" marL="0">
              <a:buNone/>
            </a:pPr>
            <a:r>
              <a:rPr lang="en-US" sz="900" dirty="0">
                <a:solidFill>
                  <a:srgbClr val="FFFFFF"/>
                </a:solidFill>
                <a:latin typeface="IBM Plex Mono" pitchFamily="34" charset="0"/>
                <a:ea typeface="IBM Plex Mono" pitchFamily="34" charset="-122"/>
                <a:cs typeface="IBM Plex Mono" pitchFamily="34" charset="-120"/>
              </a:rPr>
              <a:t>1</a:t>
            </a:r>
            <a:endParaRPr lang="en-US" sz="900" dirty="0"/>
          </a:p>
        </p:txBody>
      </p:sp>
      <p:sp>
        <p:nvSpPr>
          <p:cNvPr id="24" name="Text 22"/>
          <p:cNvSpPr/>
          <p:nvPr/>
        </p:nvSpPr>
        <p:spPr>
          <a:xfrm>
            <a:off x="6675120" y="1536192"/>
            <a:ext cx="4956048" cy="237744"/>
          </a:xfrm>
          <a:prstGeom prst="rect">
            <a:avLst/>
          </a:prstGeom>
          <a:noFill/>
          <a:ln/>
        </p:spPr>
        <p:txBody>
          <a:bodyPr wrap="square" rtlCol="0" anchor="t"/>
          <a:lstStyle/>
          <a:p>
            <a:pPr indent="0" marL="0">
              <a:buNone/>
            </a:pPr>
            <a:r>
              <a:rPr lang="en-US" sz="950" b="1" dirty="0">
                <a:solidFill>
                  <a:srgbClr val="16233A"/>
                </a:solidFill>
                <a:latin typeface="IBM Plex Mono" pitchFamily="34" charset="0"/>
                <a:ea typeface="IBM Plex Mono" pitchFamily="34" charset="-122"/>
                <a:cs typeface="IBM Plex Mono" pitchFamily="34" charset="-120"/>
              </a:rPr>
              <a:t>AANS-CNS Joint Section on Tumors. Position Statement. 2021.</a:t>
            </a:r>
            <a:endParaRPr lang="en-US" sz="950" dirty="0"/>
          </a:p>
        </p:txBody>
      </p:sp>
      <p:sp>
        <p:nvSpPr>
          <p:cNvPr id="25" name="Text 23"/>
          <p:cNvSpPr/>
          <p:nvPr/>
        </p:nvSpPr>
        <p:spPr>
          <a:xfrm>
            <a:off x="6675120" y="1755648"/>
            <a:ext cx="4956048" cy="566928"/>
          </a:xfrm>
          <a:prstGeom prst="rect">
            <a:avLst/>
          </a:prstGeom>
          <a:noFill/>
          <a:ln/>
        </p:spPr>
        <p:txBody>
          <a:bodyPr wrap="square" rtlCol="0" anchor="t"/>
          <a:lstStyle/>
          <a:p>
            <a:pPr indent="0" marL="0">
              <a:lnSpc>
                <a:spcPct val="105000"/>
              </a:lnSpc>
              <a:buNone/>
            </a:pPr>
            <a:r>
              <a:rPr lang="en-US" sz="900" dirty="0">
                <a:solidFill>
                  <a:srgbClr val="46505F"/>
                </a:solidFill>
                <a:latin typeface="Inter" pitchFamily="34" charset="0"/>
                <a:ea typeface="Inter" pitchFamily="34" charset="-122"/>
                <a:cs typeface="Inter" pitchFamily="34" charset="-120"/>
              </a:rPr>
              <a:t>Society position statement endorsing MR-guided LITT as an option for adult CNS tumors and radiation necrosis, especially lesions unsuitable for or inaccessible to resection.</a:t>
            </a:r>
            <a:endParaRPr lang="en-US" sz="900" dirty="0"/>
          </a:p>
        </p:txBody>
      </p:sp>
      <p:sp>
        <p:nvSpPr>
          <p:cNvPr id="26" name="Text 24"/>
          <p:cNvSpPr/>
          <p:nvPr/>
        </p:nvSpPr>
        <p:spPr>
          <a:xfrm>
            <a:off x="566928" y="5989320"/>
            <a:ext cx="11064240" cy="365760"/>
          </a:xfrm>
          <a:prstGeom prst="rect">
            <a:avLst/>
          </a:prstGeom>
          <a:noFill/>
          <a:ln/>
        </p:spPr>
        <p:txBody>
          <a:bodyPr wrap="square" rtlCol="0" anchor="t"/>
          <a:lstStyle/>
          <a:p>
            <a:pPr indent="0" marL="0">
              <a:lnSpc>
                <a:spcPct val="100000"/>
              </a:lnSpc>
              <a:buNone/>
            </a:pPr>
            <a:r>
              <a:rPr lang="en-US" sz="850" i="1" dirty="0">
                <a:solidFill>
                  <a:srgbClr val="7A8694"/>
                </a:solidFill>
                <a:latin typeface="Inter" pitchFamily="34" charset="0"/>
                <a:ea typeface="Inter" pitchFamily="34" charset="-122"/>
                <a:cs typeface="Inter" pitchFamily="34" charset="-120"/>
              </a:rPr>
              <a:t>Most NeuroBlate evidence is prospective registry or cohort data (LAANTERN), not a randomized comparison against open surgery. References are provided as supporting context for selected-patient consideration, not as superiority claims.</a:t>
            </a:r>
            <a:endParaRPr lang="en-US" sz="850" dirty="0"/>
          </a:p>
        </p:txBody>
      </p:sp>
      <p:sp>
        <p:nvSpPr>
          <p:cNvPr id="27" name="Shape 25"/>
          <p:cNvSpPr/>
          <p:nvPr/>
        </p:nvSpPr>
        <p:spPr>
          <a:xfrm>
            <a:off x="566928" y="6355080"/>
            <a:ext cx="11064240" cy="0"/>
          </a:xfrm>
          <a:prstGeom prst="line">
            <a:avLst/>
          </a:prstGeom>
          <a:noFill/>
          <a:ln w="9525">
            <a:solidFill>
              <a:srgbClr val="D7DEE8"/>
            </a:solidFill>
            <a:prstDash val="solid"/>
          </a:ln>
        </p:spPr>
      </p:sp>
      <p:sp>
        <p:nvSpPr>
          <p:cNvPr id="28" name="Text 26"/>
          <p:cNvSpPr/>
          <p:nvPr/>
        </p:nvSpPr>
        <p:spPr>
          <a:xfrm>
            <a:off x="566928" y="6400800"/>
            <a:ext cx="8778240" cy="365760"/>
          </a:xfrm>
          <a:prstGeom prst="rect">
            <a:avLst/>
          </a:prstGeom>
          <a:noFill/>
          <a:ln/>
        </p:spPr>
        <p:txBody>
          <a:bodyPr wrap="square" rtlCol="0" anchor="t"/>
          <a:lstStyle/>
          <a:p>
            <a:pPr indent="0" marL="0">
              <a:lnSpc>
                <a:spcPct val="100000"/>
              </a:lnSpc>
              <a:buNone/>
            </a:pPr>
            <a:r>
              <a:rPr lang="en-US" sz="650" dirty="0">
                <a:solidFill>
                  <a:srgbClr val="7A8694"/>
                </a:solidFill>
                <a:latin typeface="Inter" pitchFamily="34" charset="0"/>
                <a:ea typeface="Inter" pitchFamily="34" charset="-122"/>
                <a:cs typeface="Inter" pitchFamily="34" charset="-120"/>
              </a:rPr>
              <a:t>The NeuroBlate System is a surgical tool and is not a treatment for any specific disease state or condition. For informational purposes only; does not replace the formal operative report and does not describe clinical outcomes. Rx Only.</a:t>
            </a:r>
            <a:endParaRPr lang="en-US" sz="650" dirty="0"/>
          </a:p>
        </p:txBody>
      </p:sp>
      <p:sp>
        <p:nvSpPr>
          <p:cNvPr id="29" name="Text 27"/>
          <p:cNvSpPr/>
          <p:nvPr/>
        </p:nvSpPr>
        <p:spPr>
          <a:xfrm>
            <a:off x="9418320" y="640080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Case WMC-058  ·  Recurrent right frontal glioma</a:t>
            </a:r>
            <a:endParaRPr lang="en-US" sz="700" dirty="0"/>
          </a:p>
        </p:txBody>
      </p:sp>
      <p:sp>
        <p:nvSpPr>
          <p:cNvPr id="30" name="Text 28"/>
          <p:cNvSpPr/>
          <p:nvPr/>
        </p:nvSpPr>
        <p:spPr>
          <a:xfrm>
            <a:off x="9418320" y="6583680"/>
            <a:ext cx="2212848" cy="182880"/>
          </a:xfrm>
          <a:prstGeom prst="rect">
            <a:avLst/>
          </a:prstGeom>
          <a:noFill/>
          <a:ln/>
        </p:spPr>
        <p:txBody>
          <a:bodyPr wrap="square" rtlCol="0" anchor="ctr"/>
          <a:lstStyle/>
          <a:p>
            <a:pPr algn="r" indent="0" marL="0">
              <a:buNone/>
            </a:pPr>
            <a:r>
              <a:rPr lang="en-US" sz="700" dirty="0">
                <a:solidFill>
                  <a:srgbClr val="7A8694"/>
                </a:solidFill>
                <a:latin typeface="IBM Plex Mono" pitchFamily="34" charset="0"/>
                <a:ea typeface="IBM Plex Mono" pitchFamily="34" charset="-122"/>
                <a:cs typeface="IBM Plex Mono" pitchFamily="34" charset="-120"/>
              </a:rPr>
              <a:t>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2026-06-23T19:06:29Z</dcterms:created>
  <dcterms:modified xsi:type="dcterms:W3CDTF">2026-06-23T19:06:29Z</dcterms:modified>
</cp:coreProperties>
</file>